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00AC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0"/>
            <a:ext cx="73152" cy="6858000"/>
          </a:xfrm>
          <a:prstGeom prst="rect">
            <a:avLst/>
          </a:prstGeom>
          <a:solidFill>
            <a:srgbClr val="E8F8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36576"/>
          </a:xfrm>
          <a:prstGeom prst="rect">
            <a:avLst/>
          </a:prstGeom>
          <a:solidFill>
            <a:srgbClr val="00AC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046720" y="36576"/>
            <a:ext cx="4142232" cy="6821424"/>
          </a:xfrm>
          <a:prstGeom prst="rect">
            <a:avLst/>
          </a:prstGeom>
          <a:solidFill>
            <a:srgbClr val="E8F8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743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0AC69"/>
                </a:solidFill>
                <a:latin typeface="Calibri"/>
              </a:rPr>
              <a:t>⬢ new relic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280160"/>
            <a:ext cx="7132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4141E"/>
                </a:solidFill>
                <a:latin typeface="Calibri"/>
              </a:rPr>
              <a:t>Ingestion 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920240"/>
            <a:ext cx="7132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0AC69"/>
                </a:solidFill>
                <a:latin typeface="Calibri"/>
              </a:rPr>
              <a:t>AI-Led Development Environment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578608"/>
            <a:ext cx="71323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555566"/>
                </a:solidFill>
                <a:latin typeface="Calibri"/>
              </a:rPr>
              <a:t>Claude Code  +  GitHub Copilot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3090672"/>
            <a:ext cx="5943600" cy="14630"/>
          </a:xfrm>
          <a:prstGeom prst="rect">
            <a:avLst/>
          </a:prstGeom>
          <a:solidFill>
            <a:srgbClr val="00AC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246120"/>
            <a:ext cx="411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4141E"/>
                </a:solidFill>
                <a:latin typeface="Calibri"/>
              </a:rPr>
              <a:t>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0432" y="3264408"/>
            <a:ext cx="5669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4141E"/>
                </a:solidFill>
                <a:latin typeface="Calibri"/>
              </a:rPr>
              <a:t>5× faster feature delivery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611880"/>
            <a:ext cx="411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4141E"/>
                </a:solidFill>
                <a:latin typeface="Calibri"/>
              </a:rPr>
              <a:t>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70432" y="3630168"/>
            <a:ext cx="5669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4141E"/>
                </a:solidFill>
                <a:latin typeface="Calibri"/>
              </a:rPr>
              <a:t>Day-1 onboarding via /bootstrap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977640"/>
            <a:ext cx="411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4141E"/>
                </a:solidFill>
                <a:latin typeface="Calibri"/>
              </a:rPr>
              <a:t>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70432" y="3995928"/>
            <a:ext cx="5669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4141E"/>
                </a:solidFill>
                <a:latin typeface="Calibri"/>
              </a:rPr>
              <a:t>30-second NR incident diagnosis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343400"/>
            <a:ext cx="411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4141E"/>
                </a:solidFill>
                <a:latin typeface="Calibri"/>
              </a:rPr>
              <a:t>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70432" y="4361688"/>
            <a:ext cx="5669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4141E"/>
                </a:solidFill>
                <a:latin typeface="Calibri"/>
              </a:rPr>
              <a:t>Multi-agent parallel work with /avengers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709160"/>
            <a:ext cx="411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4141E"/>
                </a:solidFill>
                <a:latin typeface="Calibri"/>
              </a:rPr>
              <a:t>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70432" y="4727448"/>
            <a:ext cx="5669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4141E"/>
                </a:solidFill>
                <a:latin typeface="Calibri"/>
              </a:rPr>
              <a:t>Replayable golden patterns — knowledge that compounds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21040" y="1097280"/>
            <a:ext cx="356616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321040" y="1097280"/>
            <a:ext cx="91440" cy="822960"/>
          </a:xfrm>
          <a:prstGeom prst="rect">
            <a:avLst/>
          </a:prstGeom>
          <a:solidFill>
            <a:srgbClr val="00AC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0" y="1170432"/>
            <a:ext cx="3246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4141E"/>
                </a:solidFill>
                <a:latin typeface="Calibri"/>
              </a:rPr>
              <a:t>20 Skills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20" y="1499616"/>
            <a:ext cx="3246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66"/>
                </a:solidFill>
                <a:latin typeface="Calibri"/>
              </a:rPr>
              <a:t>auto-trigger on file type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321040" y="2057400"/>
            <a:ext cx="356616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321040" y="2057400"/>
            <a:ext cx="91440" cy="8229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03920" y="2130552"/>
            <a:ext cx="3246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4141E"/>
                </a:solidFill>
                <a:latin typeface="Calibri"/>
              </a:rPr>
              <a:t>28 CRG tools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03920" y="2459736"/>
            <a:ext cx="3246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66"/>
                </a:solidFill>
                <a:latin typeface="Calibri"/>
              </a:rPr>
              <a:t>code-review-graph MCP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321040" y="3017520"/>
            <a:ext cx="356616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321040" y="3017520"/>
            <a:ext cx="91440" cy="822960"/>
          </a:xfrm>
          <a:prstGeom prst="rect">
            <a:avLst/>
          </a:prstGeom>
          <a:solidFill>
            <a:srgbClr val="005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03920" y="3090672"/>
            <a:ext cx="3246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4141E"/>
                </a:solidFill>
                <a:latin typeface="Calibri"/>
              </a:rPr>
              <a:t>12+ NR MCP tools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03920" y="3419856"/>
            <a:ext cx="3246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66"/>
                </a:solidFill>
                <a:latin typeface="Calibri"/>
              </a:rPr>
              <a:t>live observability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321040" y="3977640"/>
            <a:ext cx="356616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321040" y="3977640"/>
            <a:ext cx="91440" cy="822960"/>
          </a:xfrm>
          <a:prstGeom prst="rect">
            <a:avLst/>
          </a:prstGeom>
          <a:solidFill>
            <a:srgbClr val="006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503920" y="4050792"/>
            <a:ext cx="3246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4141E"/>
                </a:solidFill>
                <a:latin typeface="Calibri"/>
              </a:rPr>
              <a:t>Memory + Goldens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03920" y="4379976"/>
            <a:ext cx="3246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66"/>
                </a:solidFill>
                <a:latin typeface="Calibri"/>
              </a:rPr>
              <a:t>knowledge that compounds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321040" y="4937760"/>
            <a:ext cx="356616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321040" y="4937760"/>
            <a:ext cx="91440" cy="822960"/>
          </a:xfrm>
          <a:prstGeom prst="rect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503920" y="5010912"/>
            <a:ext cx="3246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4141E"/>
                </a:solidFill>
                <a:latin typeface="Calibri"/>
              </a:rPr>
              <a:t>Budget dial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5340096"/>
            <a:ext cx="3246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66"/>
                </a:solidFill>
                <a:latin typeface="Calibri"/>
              </a:rPr>
              <a:t>🟢 🟡 🔴 daily spend cap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74320" y="6455664"/>
            <a:ext cx="10881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555566"/>
                </a:solidFill>
                <a:latin typeface="Calibri"/>
              </a:rPr>
              <a:t>© 2025 New Relic, Inc. All rights reserved.  Confidential and proprietary.  For internal use only, not for external distribution.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789920" y="6409944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00AC69"/>
                </a:solidFill>
                <a:latin typeface="Calibri"/>
              </a:rPr>
              <a:t>⬢ new relic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00AC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64008"/>
            <a:ext cx="11430000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The Problem — Four Pains We Were Living With Every Week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868680"/>
            <a:ext cx="557784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868680"/>
            <a:ext cx="5577840" cy="73152"/>
          </a:xfrm>
          <a:prstGeom prst="rect">
            <a:avLst/>
          </a:prstGeom>
          <a:solidFill>
            <a:srgbClr val="00AC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33272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4141E"/>
                </a:solidFill>
                <a:latin typeface="Calibri"/>
              </a:rPr>
              <a:t>🕐 Onboarding: 2+ Weeks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52120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5566"/>
                </a:solidFill>
                <a:latin typeface="Calibri"/>
              </a:rPr>
              <a:t>New engineers spent 2 weeks asking Slack, grepping git history,
and re-deriving patterns that lived in people's heads.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560320"/>
            <a:ext cx="5577840" cy="640080"/>
          </a:xfrm>
          <a:prstGeom prst="rect">
            <a:avLst/>
          </a:prstGeom>
          <a:solidFill>
            <a:srgbClr val="E8F8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60604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6B40"/>
                </a:solidFill>
                <a:latin typeface="Calibri"/>
              </a:rPr>
              <a:t>Cost: ~4 eng-weeks/year per team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868680"/>
            <a:ext cx="557784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09360" y="868680"/>
            <a:ext cx="5577840" cy="73152"/>
          </a:xfrm>
          <a:prstGeom prst="rect">
            <a:avLst/>
          </a:prstGeom>
          <a:solidFill>
            <a:srgbClr val="00AC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033272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4141E"/>
                </a:solidFill>
                <a:latin typeface="Calibri"/>
              </a:rPr>
              <a:t>🔍 Incident Diagnosis: 2–3 Hours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1463040"/>
            <a:ext cx="52120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5566"/>
                </a:solidFill>
                <a:latin typeface="Calibri"/>
              </a:rPr>
              <a:t>Alert fires at 2am → manual NR UI hunt → log grep →
Slack teammates → hypothesis → repeat.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2560320"/>
            <a:ext cx="5577840" cy="640080"/>
          </a:xfrm>
          <a:prstGeom prst="rect">
            <a:avLst/>
          </a:prstGeom>
          <a:solidFill>
            <a:srgbClr val="E8F8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260604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6B40"/>
                </a:solidFill>
                <a:latin typeface="Calibri"/>
              </a:rPr>
              <a:t>Cost: ~12h/year MTTR overhead (before fix time)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474720"/>
            <a:ext cx="557784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5760" y="3474720"/>
            <a:ext cx="5577840" cy="73152"/>
          </a:xfrm>
          <a:prstGeom prst="rect">
            <a:avLst/>
          </a:prstGeom>
          <a:solidFill>
            <a:srgbClr val="00AC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3639312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4141E"/>
                </a:solidFill>
                <a:latin typeface="Calibri"/>
              </a:rPr>
              <a:t>💥 Blast Radius: Invisible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069080"/>
            <a:ext cx="52120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5566"/>
                </a:solidFill>
                <a:latin typeface="Calibri"/>
              </a:rPr>
              <a:t>'1-day fix' became a 5-day incident because nobody knew
what else would break before a line was written.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5166360"/>
            <a:ext cx="5577840" cy="640080"/>
          </a:xfrm>
          <a:prstGeom prst="rect">
            <a:avLst/>
          </a:prstGeom>
          <a:solidFill>
            <a:srgbClr val="E8F8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521208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6B40"/>
                </a:solidFill>
                <a:latin typeface="Calibri"/>
              </a:rPr>
              <a:t>Cost: ~1 sprint/quarter absorbed in rework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0" y="3474720"/>
            <a:ext cx="557784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309360" y="3474720"/>
            <a:ext cx="5577840" cy="73152"/>
          </a:xfrm>
          <a:prstGeom prst="rect">
            <a:avLst/>
          </a:prstGeom>
          <a:solidFill>
            <a:srgbClr val="00AC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0" y="3639312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4141E"/>
                </a:solidFill>
                <a:latin typeface="Calibri"/>
              </a:rPr>
              <a:t>🗂 Architecture: In People's Heads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4069080"/>
            <a:ext cx="52120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5566"/>
                </a:solidFill>
                <a:latin typeface="Calibri"/>
              </a:rPr>
              <a:t>Knowledge in Slack threads and the senior engineer's memory.
Every off-boarding = weeks of lost context.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09360" y="5166360"/>
            <a:ext cx="5577840" cy="640080"/>
          </a:xfrm>
          <a:prstGeom prst="rect">
            <a:avLst/>
          </a:prstGeom>
          <a:solidFill>
            <a:srgbClr val="E8F8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92240" y="521208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6B40"/>
                </a:solidFill>
                <a:latin typeface="Calibri"/>
              </a:rPr>
              <a:t>Cost: exponential as team grows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" y="6455664"/>
            <a:ext cx="10881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555566"/>
                </a:solidFill>
                <a:latin typeface="Calibri"/>
              </a:rPr>
              <a:t>© 2025 New Relic, Inc. All rights reserved.  Confidential and proprietary.  For internal use only, not for external distribution.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0" y="6409944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00AC69"/>
                </a:solidFill>
                <a:latin typeface="Calibri"/>
              </a:rPr>
              <a:t>⬢ new relic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00AC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64008"/>
            <a:ext cx="11430000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Our Answer: Two AI Tools, One Team — Each Does What It Does Best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777240"/>
            <a:ext cx="5394960" cy="5120640"/>
          </a:xfrm>
          <a:prstGeom prst="rect">
            <a:avLst/>
          </a:prstGeom>
          <a:solidFill>
            <a:srgbClr val="F0F0F4"/>
          </a:solidFill>
          <a:ln w="12700">
            <a:solidFill>
              <a:srgbClr val="DDDD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777240"/>
            <a:ext cx="5394960" cy="475488"/>
          </a:xfrm>
          <a:prstGeom prst="rect">
            <a:avLst/>
          </a:prstGeom>
          <a:solidFill>
            <a:srgbClr val="2429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8229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GitHub Copilot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AC69"/>
                </a:solidFill>
                <a:latin typeface="Calibri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3716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4141E"/>
                </a:solidFill>
                <a:latin typeface="Calibri"/>
              </a:rPr>
              <a:t>Line &amp; function autocomplete in 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00784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AC69"/>
                </a:solidFill>
                <a:latin typeface="Calibr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1700784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4141E"/>
                </a:solidFill>
                <a:latin typeface="Calibri"/>
              </a:rPr>
              <a:t>Inline chat: explain this function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029968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AC69"/>
                </a:solidFill>
                <a:latin typeface="Calibri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02996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4141E"/>
                </a:solidFill>
                <a:latin typeface="Calibri"/>
              </a:rPr>
              <a:t>Generate boilerplate fast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359152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AC69"/>
                </a:solidFill>
                <a:latin typeface="Calibri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359152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4141E"/>
                </a:solidFill>
                <a:latin typeface="Calibri"/>
              </a:rPr>
              <a:t>Test skeleton generation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688336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AC69"/>
                </a:solidFill>
                <a:latin typeface="Calibri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2688336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4141E"/>
                </a:solidFill>
                <a:latin typeface="Calibri"/>
              </a:rPr>
              <a:t>Rename / refactor suggestions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017520"/>
            <a:ext cx="5029200" cy="14630"/>
          </a:xfrm>
          <a:prstGeom prst="rect">
            <a:avLst/>
          </a:prstGeom>
          <a:solidFill>
            <a:srgbClr val="DDD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3182112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83040"/>
                </a:solidFill>
                <a:latin typeface="Calibri"/>
              </a:rPr>
              <a:t>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182112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4141E"/>
                </a:solidFill>
                <a:latin typeface="Calibri"/>
              </a:rPr>
              <a:t>No codebase memory across sessions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3511296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83040"/>
                </a:solidFill>
                <a:latin typeface="Calibri"/>
              </a:rPr>
              <a:t>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3511296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4141E"/>
                </a:solidFill>
                <a:latin typeface="Calibri"/>
              </a:rPr>
              <a:t>Can't query NR, Jira, Confluence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3840480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83040"/>
                </a:solidFill>
                <a:latin typeface="Calibri"/>
              </a:rPr>
              <a:t>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38404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4141E"/>
                </a:solidFill>
                <a:latin typeface="Calibri"/>
              </a:rPr>
              <a:t>No blast-radius analysis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169664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83040"/>
                </a:solidFill>
                <a:latin typeface="Calibri"/>
              </a:rPr>
              <a:t>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4169664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4141E"/>
                </a:solidFill>
                <a:latin typeface="Calibri"/>
              </a:rPr>
              <a:t>No multi-agent parallelism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0" y="777240"/>
            <a:ext cx="5394960" cy="5120640"/>
          </a:xfrm>
          <a:prstGeom prst="rect">
            <a:avLst/>
          </a:prstGeom>
          <a:solidFill>
            <a:srgbClr val="E8F8F1"/>
          </a:solidFill>
          <a:ln w="19050">
            <a:solidFill>
              <a:srgbClr val="00AC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0" y="777240"/>
            <a:ext cx="5394960" cy="475488"/>
          </a:xfrm>
          <a:prstGeom prst="rect">
            <a:avLst/>
          </a:prstGeom>
          <a:solidFill>
            <a:srgbClr val="00AC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8229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Claude Code (our environment)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1371600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AC69"/>
                </a:solidFill>
                <a:latin typeface="Calibri"/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49440" y="13716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4141E"/>
                </a:solidFill>
                <a:latin typeface="Calibri"/>
              </a:rPr>
              <a:t>Investigation: queries NR, Jira, Confluence live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1700784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AC69"/>
                </a:solidFill>
                <a:latin typeface="Calibri"/>
              </a:rPr>
              <a:t>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1700784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4141E"/>
                </a:solidFill>
                <a:latin typeface="Calibri"/>
              </a:rPr>
              <a:t>Memory: hot.md loads full context at session start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0" y="2029968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AC69"/>
                </a:solidFill>
                <a:latin typeface="Calibri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49440" y="202996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4141E"/>
                </a:solidFill>
                <a:latin typeface="Calibri"/>
              </a:rPr>
              <a:t>Blast radius: get_impact_radius before writing code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0" y="2359152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AC69"/>
                </a:solidFill>
                <a:latin typeface="Calibri"/>
              </a:rPr>
              <a:t>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49440" y="2359152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4141E"/>
                </a:solidFill>
                <a:latin typeface="Calibri"/>
              </a:rPr>
              <a:t>/avengers: 5 parallel agents on one task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83680" y="2688336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AC69"/>
                </a:solidFill>
                <a:latin typeface="Calibri"/>
              </a:rPr>
              <a:t>✓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49440" y="2688336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4141E"/>
                </a:solidFill>
                <a:latin typeface="Calibri"/>
              </a:rPr>
              <a:t>/golden + /replay: compounding pattern library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83680" y="3017520"/>
            <a:ext cx="5029200" cy="14630"/>
          </a:xfrm>
          <a:prstGeom prst="rect">
            <a:avLst/>
          </a:prstGeom>
          <a:solidFill>
            <a:srgbClr val="00AC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83680" y="3182112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AC69"/>
                </a:solidFill>
                <a:latin typeface="Calibri"/>
              </a:rPr>
              <a:t>✓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182112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4141E"/>
                </a:solidFill>
                <a:latin typeface="Calibri"/>
              </a:rPr>
              <a:t>20 skills auto-trigger on file path / topic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80" y="3511296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AC69"/>
                </a:solidFill>
                <a:latin typeface="Calibri"/>
              </a:rPr>
              <a:t>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49440" y="3511296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4141E"/>
                </a:solidFill>
                <a:latin typeface="Calibri"/>
              </a:rPr>
              <a:t>Model routing: Haiku → Sonnet → Opus by task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83680" y="3840480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AC69"/>
                </a:solidFill>
                <a:latin typeface="Calibri"/>
              </a:rPr>
              <a:t>✓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49440" y="38404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4141E"/>
                </a:solidFill>
                <a:latin typeface="Calibri"/>
              </a:rPr>
              <a:t>Budget dial: 🟢🟡🔴 daily spend awareness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83680" y="4169664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AC69"/>
                </a:solidFill>
                <a:latin typeface="Calibri"/>
              </a:rPr>
              <a:t>✓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49440" y="4169664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4141E"/>
                </a:solidFill>
                <a:latin typeface="Calibri"/>
              </a:rPr>
              <a:t>Hooks: self-heal, cost record, MCP token refresh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23560" y="310896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00AC69"/>
                </a:solidFill>
                <a:latin typeface="Calibri"/>
              </a:rPr>
              <a:t>→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86400" y="36576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0AC69"/>
                </a:solidFill>
                <a:latin typeface="Calibri"/>
              </a:rPr>
              <a:t>Together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74320" y="6455664"/>
            <a:ext cx="10881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555566"/>
                </a:solidFill>
                <a:latin typeface="Calibri"/>
              </a:rPr>
              <a:t>© 2025 New Relic, Inc. All rights reserved.  Confidential and proprietary.  For internal use only, not for external distribution.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789920" y="6409944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00AC69"/>
                </a:solidFill>
                <a:latin typeface="Calibri"/>
              </a:rPr>
              <a:t>⬢ new relic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00AC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64008"/>
            <a:ext cx="11430000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Three-Layer Architecture — Global → Project → Repo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749808"/>
            <a:ext cx="11457432" cy="1920239"/>
          </a:xfrm>
          <a:prstGeom prst="rect">
            <a:avLst/>
          </a:prstGeom>
          <a:solidFill>
            <a:srgbClr val="0E0E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749808"/>
            <a:ext cx="11457432" cy="292608"/>
          </a:xfrm>
          <a:prstGeom prst="rect">
            <a:avLst/>
          </a:prstGeom>
          <a:solidFill>
            <a:srgbClr val="00AC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10515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ourier New"/>
              </a:rPr>
              <a:t>GLOBAL  ~/.claude/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0515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AFF91"/>
                </a:solidFill>
                <a:latin typeface="Courier New"/>
              </a:rPr>
              <a:t> CLAUDE.md      ← rules: security, model routing, workflows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371600"/>
            <a:ext cx="10515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AFF91"/>
                </a:solidFill>
                <a:latin typeface="Courier New"/>
              </a:rPr>
              <a:t> budget.json    ← daily=$50  weekly=$120  monthly=$300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645920"/>
            <a:ext cx="10515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AFF91"/>
                </a:solidFill>
                <a:latin typeface="Courier New"/>
              </a:rPr>
              <a:t> golden/        ← reusable session patterns + index.json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920239"/>
            <a:ext cx="10515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AFF91"/>
                </a:solidFill>
                <a:latin typeface="Courier New"/>
              </a:rPr>
              <a:t> skills/        ← 20 skills (lang + domain + meta workflow)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194560"/>
            <a:ext cx="10515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AFF91"/>
                </a:solidFill>
                <a:latin typeface="Courier New"/>
              </a:rPr>
              <a:t> hooks/         ← rtk, statusline, self-heal, cost-record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468880"/>
            <a:ext cx="10515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AFF91"/>
                </a:solidFill>
                <a:latin typeface="Courier New"/>
              </a:rPr>
              <a:t> telemetry/     ← cost.jsonl  greps.jsonl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871215"/>
            <a:ext cx="11457432" cy="1920239"/>
          </a:xfrm>
          <a:prstGeom prst="rect">
            <a:avLst/>
          </a:prstGeom>
          <a:solidFill>
            <a:srgbClr val="0E0E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5760" y="2871215"/>
            <a:ext cx="11457432" cy="292608"/>
          </a:xfrm>
          <a:prstGeom prst="rect">
            <a:avLst/>
          </a:prstGeom>
          <a:solidFill>
            <a:srgbClr val="006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2898647"/>
            <a:ext cx="10515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ourier New"/>
              </a:rPr>
              <a:t>PROJECT  ~/.claude/projects/&lt;REPO_NAME&gt;/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218687"/>
            <a:ext cx="10515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AFF91"/>
                </a:solidFill>
                <a:latin typeface="Courier New"/>
              </a:rPr>
              <a:t> memory/hot.md           ← AUTO-LOADED ~2k tokens (session start)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493007"/>
            <a:ext cx="10515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AFF91"/>
                </a:solidFill>
                <a:latin typeface="Courier New"/>
              </a:rPr>
              <a:t> memory/lessons.md       ← patterns, wins, anti-patterns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767327"/>
            <a:ext cx="10515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AFF91"/>
                </a:solidFill>
                <a:latin typeface="Courier New"/>
              </a:rPr>
              <a:t> memory/architecture.md  ← derived from GRAPH_REPORT.md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041646"/>
            <a:ext cx="10515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AFF91"/>
                </a:solidFill>
                <a:latin typeface="Courier New"/>
              </a:rPr>
              <a:t> memory/history.md       ← append-only session log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315967"/>
            <a:ext cx="10515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AFF91"/>
                </a:solidFill>
                <a:latin typeface="Courier New"/>
              </a:rPr>
              <a:t> graphs/GRAPH_REPORT.md  ← AUTO-LOADED CRG summary + MCP hints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590287"/>
            <a:ext cx="10515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AFF91"/>
                </a:solidFill>
                <a:latin typeface="Courier New"/>
              </a:rPr>
              <a:t> plans/                  ← mirrored from ~/.claude/plans/ at /wrap-up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4992622"/>
            <a:ext cx="11457432" cy="1371600"/>
          </a:xfrm>
          <a:prstGeom prst="rect">
            <a:avLst/>
          </a:prstGeom>
          <a:solidFill>
            <a:srgbClr val="0E0E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65760" y="4992622"/>
            <a:ext cx="11457432" cy="29260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5020054"/>
            <a:ext cx="10515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ourier New"/>
              </a:rPr>
              <a:t>REPO  &lt;repo&gt;/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340094"/>
            <a:ext cx="10515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AFF91"/>
                </a:solidFill>
                <a:latin typeface="Courier New"/>
              </a:rPr>
              <a:t> .claude/CLAUDE.md  ← only 2 @ refs → hot.md + GRAPH_REPORT.md (~4k total)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5614414"/>
            <a:ext cx="10515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AFF91"/>
                </a:solidFill>
                <a:latin typeface="Courier New"/>
              </a:rPr>
              <a:t> .mcp.json          ← memory-server + code-review-graph MCP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5888734"/>
            <a:ext cx="10515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AFF91"/>
                </a:solidFill>
                <a:latin typeface="Courier New"/>
              </a:rPr>
              <a:t> .code-review-graph/ ← SQLite AST graph (auto-updates on Edit)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163053"/>
            <a:ext cx="10515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AFF91"/>
                </a:solidFill>
                <a:latin typeface="Courier New"/>
              </a:rPr>
              <a:t> .gitignore         ← .claude/, .mcp.json, .code-review-graph/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6565390"/>
            <a:ext cx="11457432" cy="384048"/>
          </a:xfrm>
          <a:prstGeom prst="rect">
            <a:avLst/>
          </a:prstGeom>
          <a:solidFill>
            <a:srgbClr val="E8F8F1"/>
          </a:solidFill>
          <a:ln w="12700">
            <a:solidFill>
              <a:srgbClr val="00AC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6620254"/>
            <a:ext cx="11064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6B40"/>
                </a:solidFill>
                <a:latin typeface="Calibri"/>
              </a:rPr>
              <a:t>Session-start token cost:  Before = 10–30k tokens (5 @-loaded files)  →  After = ~4k tokens (hot.md + GRAPH_REPORT.md)  —  3–7× cheaper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320" y="6455664"/>
            <a:ext cx="10881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555566"/>
                </a:solidFill>
                <a:latin typeface="Calibri"/>
              </a:rPr>
              <a:t>© 2025 New Relic, Inc. All rights reserved.  Confidential and proprietary.  For internal use only, not for external distribution.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9920" y="6409944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00AC69"/>
                </a:solidFill>
                <a:latin typeface="Calibri"/>
              </a:rPr>
              <a:t>⬢ new relic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00AC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64008"/>
            <a:ext cx="11430000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5 Minutes to a Fully-Wired Team Environment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749808"/>
            <a:ext cx="11430000" cy="5486400"/>
          </a:xfrm>
          <a:prstGeom prst="rect">
            <a:avLst/>
          </a:prstGeom>
          <a:solidFill>
            <a:srgbClr val="0E0E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749808"/>
            <a:ext cx="11430000" cy="256032"/>
          </a:xfrm>
          <a:prstGeom prst="rect">
            <a:avLst/>
          </a:prstGeom>
          <a:solidFill>
            <a:srgbClr val="222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488" y="813816"/>
            <a:ext cx="128016" cy="128016"/>
          </a:xfrm>
          <a:prstGeom prst="rect">
            <a:avLst/>
          </a:prstGeom>
          <a:solidFill>
            <a:srgbClr val="E83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76656" y="813816"/>
            <a:ext cx="128016" cy="128016"/>
          </a:xfrm>
          <a:prstGeom prst="rect">
            <a:avLst/>
          </a:prstGeom>
          <a:solidFill>
            <a:srgbClr val="FFC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77824" y="813816"/>
            <a:ext cx="128016" cy="128016"/>
          </a:xfrm>
          <a:prstGeom prst="rect">
            <a:avLst/>
          </a:prstGeom>
          <a:solidFill>
            <a:srgbClr val="00AC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078992"/>
            <a:ext cx="11155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89988"/>
                </a:solidFill>
                <a:latin typeface="Courier New"/>
              </a:rPr>
              <a:t># ── Install (one-time, per engineer) ────────────────────────────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325880"/>
            <a:ext cx="11155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0AC69"/>
                </a:solidFill>
                <a:latin typeface="Courier New"/>
              </a:rPr>
              <a:t>$ git clone git@github.com:nr-mdakilahmed/claude_code_setup.git ~/claude_code_setup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572768"/>
            <a:ext cx="11155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0AC69"/>
                </a:solidFill>
                <a:latin typeface="Courier New"/>
              </a:rPr>
              <a:t>$ cd ~/claude_code_setup &amp;&amp; ./install.sh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819656"/>
            <a:ext cx="11155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AFF91"/>
                </a:solidFill>
                <a:latin typeface="Courier New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066544"/>
            <a:ext cx="11155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0AC69"/>
                </a:solidFill>
                <a:latin typeface="Courier New"/>
              </a:rPr>
              <a:t>→ Checks: claude  python3  git  jq  pipx  uv  (fatal if missing)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313432"/>
            <a:ext cx="11155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0AC69"/>
                </a:solidFill>
                <a:latin typeface="Courier New"/>
              </a:rPr>
              <a:t>→ Installs code-review-graph via pipx  (Tree-sitter AST + 28 MCP tools)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2560320"/>
            <a:ext cx="11155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0AC69"/>
                </a:solidFill>
                <a:latin typeface="Courier New"/>
              </a:rPr>
              <a:t>→ Syncs memory-server  (pull-on-demand project memory via uvx)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2807208"/>
            <a:ext cx="11155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0AC69"/>
                </a:solidFill>
                <a:latin typeface="Courier New"/>
              </a:rPr>
              <a:t>→ Copies 20 skills to ~/.claude/skills/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3054096"/>
            <a:ext cx="11155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0AC69"/>
                </a:solidFill>
                <a:latin typeface="Courier New"/>
              </a:rPr>
              <a:t>→ Copies hooks: rtk, statusline, self-heal, cost-record, MCP refresh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300984"/>
            <a:ext cx="11155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0AC69"/>
                </a:solidFill>
                <a:latin typeface="Courier New"/>
              </a:rPr>
              <a:t>→ Merges settings.template.json into ~/.claude/settings.json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3547872"/>
            <a:ext cx="11155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0AC69"/>
                </a:solidFill>
                <a:latin typeface="Courier New"/>
              </a:rPr>
              <a:t>→ Seeds ~/.claude/budget.json  +  golden/index.json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3794760"/>
            <a:ext cx="11155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AFF91"/>
                </a:solidFill>
                <a:latin typeface="Courier New"/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4041648"/>
            <a:ext cx="11155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0AC69"/>
                </a:solidFill>
                <a:latin typeface="Courier New"/>
              </a:rPr>
              <a:t>$ ./verify.sh          # end-to-end check: prereqs + skills + hooks + MCPs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4288536"/>
            <a:ext cx="11155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AFF91"/>
                </a:solidFill>
                <a:latin typeface="Courier New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4535424"/>
            <a:ext cx="11155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89988"/>
                </a:solidFill>
                <a:latin typeface="Courier New"/>
              </a:rPr>
              <a:t># ── First visit to a repo ────────────────────────────────────────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4782312"/>
            <a:ext cx="11155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0AC69"/>
                </a:solidFill>
                <a:latin typeface="Courier New"/>
              </a:rPr>
              <a:t>$ cd ~/Documents/GitHub/om-airflow-dags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5029200"/>
            <a:ext cx="11155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0AC69"/>
                </a:solidFill>
                <a:latin typeface="Courier New"/>
              </a:rPr>
              <a:t>$ claude                # opens Claude Code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5276088"/>
            <a:ext cx="11155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AFF91"/>
                </a:solidFill>
                <a:latin typeface="Courier New"/>
              </a:rPr>
              <a:t>&gt; /bootstrap            # Opus: detect stack → seed memory → build graph → wire MCPs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5522976"/>
            <a:ext cx="11155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AFF91"/>
                </a:solidFill>
                <a:latin typeface="Courier New"/>
              </a:rPr>
              <a:t/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5769864"/>
            <a:ext cx="11155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89988"/>
                </a:solidFill>
                <a:latin typeface="Courier New"/>
              </a:rPr>
              <a:t># ── Every session end ────────────────────────────────────────────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016752"/>
            <a:ext cx="11155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AFF91"/>
                </a:solidFill>
                <a:latin typeface="Courier New"/>
              </a:rPr>
              <a:t>&gt; /wrap-up              # persist history, lessons, refresh graph, regen hot.md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" y="6455664"/>
            <a:ext cx="10881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555566"/>
                </a:solidFill>
                <a:latin typeface="Calibri"/>
              </a:rPr>
              <a:t>© 2025 New Relic, Inc. All rights reserved.  Confidential and proprietary.  For internal use only, not for external distribution.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89920" y="6409944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00AC69"/>
                </a:solidFill>
                <a:latin typeface="Calibri"/>
              </a:rPr>
              <a:t>⬢ new relic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00AC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64008"/>
            <a:ext cx="11430000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20 Skills — Context-Aware by Default, Explicit When You Need Them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4980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6B40"/>
                </a:solidFill>
                <a:latin typeface="Calibri"/>
              </a:rPr>
              <a:t>META / WORKFLOW  (7 — explicit /command only)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78992"/>
            <a:ext cx="5394960" cy="310896"/>
          </a:xfrm>
          <a:prstGeom prst="rect">
            <a:avLst/>
          </a:prstGeom>
          <a:solidFill>
            <a:srgbClr val="F0F0F4"/>
          </a:solidFill>
          <a:ln w="6350">
            <a:solidFill>
              <a:srgbClr val="DDDD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AC69"/>
                </a:solidFill>
                <a:latin typeface="Courier New"/>
              </a:rPr>
              <a:t>/bootstrap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1115568"/>
            <a:ext cx="3931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4141E"/>
                </a:solidFill>
                <a:latin typeface="Calibri"/>
              </a:rPr>
              <a:t>First visit: detect stack, seed memory, build graph, wire MCPs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399032"/>
            <a:ext cx="5394960" cy="310896"/>
          </a:xfrm>
          <a:prstGeom prst="rect">
            <a:avLst/>
          </a:prstGeom>
          <a:solidFill>
            <a:srgbClr val="F0F0F4"/>
          </a:solidFill>
          <a:ln w="6350">
            <a:solidFill>
              <a:srgbClr val="DDDD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43560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AC69"/>
                </a:solidFill>
                <a:latin typeface="Courier New"/>
              </a:rPr>
              <a:t>/wrap-up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1435608"/>
            <a:ext cx="3931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4141E"/>
                </a:solidFill>
                <a:latin typeface="Calibri"/>
              </a:rPr>
              <a:t>Session end: history + todos + lessons + graph refresh + hot.md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719072"/>
            <a:ext cx="5394960" cy="310896"/>
          </a:xfrm>
          <a:prstGeom prst="rect">
            <a:avLst/>
          </a:prstGeom>
          <a:solidFill>
            <a:srgbClr val="F0F0F4"/>
          </a:solidFill>
          <a:ln w="6350">
            <a:solidFill>
              <a:srgbClr val="DDDD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7556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AC69"/>
                </a:solidFill>
                <a:latin typeface="Courier New"/>
              </a:rPr>
              <a:t>/avengers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1755648"/>
            <a:ext cx="3931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4141E"/>
                </a:solidFill>
                <a:latin typeface="Calibri"/>
              </a:rPr>
              <a:t>Opus orchestrates Sonnet specialists in parallel — for complex tasks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039112"/>
            <a:ext cx="5394960" cy="310896"/>
          </a:xfrm>
          <a:prstGeom prst="rect">
            <a:avLst/>
          </a:prstGeom>
          <a:solidFill>
            <a:srgbClr val="F0F0F4"/>
          </a:solidFill>
          <a:ln w="6350">
            <a:solidFill>
              <a:srgbClr val="DDDD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207568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AC69"/>
                </a:solidFill>
                <a:latin typeface="Courier New"/>
              </a:rPr>
              <a:t>/golden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2075688"/>
            <a:ext cx="3931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4141E"/>
                </a:solidFill>
                <a:latin typeface="Calibri"/>
              </a:rPr>
              <a:t>save | list | validate — capture reusable session templates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359152"/>
            <a:ext cx="5394960" cy="310896"/>
          </a:xfrm>
          <a:prstGeom prst="rect">
            <a:avLst/>
          </a:prstGeom>
          <a:solidFill>
            <a:srgbClr val="F0F0F4"/>
          </a:solidFill>
          <a:ln w="6350">
            <a:solidFill>
              <a:srgbClr val="DDDD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239572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AC69"/>
                </a:solidFill>
                <a:latin typeface="Courier New"/>
              </a:rPr>
              <a:t>/replay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2395728"/>
            <a:ext cx="3931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4141E"/>
                </a:solidFill>
                <a:latin typeface="Calibri"/>
              </a:rPr>
              <a:t>Load saved golden as prior-art for a matching task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79192"/>
            <a:ext cx="5394960" cy="310896"/>
          </a:xfrm>
          <a:prstGeom prst="rect">
            <a:avLst/>
          </a:prstGeom>
          <a:solidFill>
            <a:srgbClr val="F0F0F4"/>
          </a:solidFill>
          <a:ln w="6350">
            <a:solidFill>
              <a:srgbClr val="DDDD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27157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AC69"/>
                </a:solidFill>
                <a:latin typeface="Courier New"/>
              </a:rPr>
              <a:t>/budget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91640" y="2715768"/>
            <a:ext cx="3931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4141E"/>
                </a:solidFill>
                <a:latin typeface="Calibri"/>
              </a:rPr>
              <a:t>status | set | override | report — daily/weekly/monthly spend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999232"/>
            <a:ext cx="5394960" cy="310896"/>
          </a:xfrm>
          <a:prstGeom prst="rect">
            <a:avLst/>
          </a:prstGeom>
          <a:solidFill>
            <a:srgbClr val="F0F0F4"/>
          </a:solidFill>
          <a:ln w="6350">
            <a:solidFill>
              <a:srgbClr val="DDDD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303580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AC69"/>
                </a:solidFill>
                <a:latin typeface="Courier New"/>
              </a:rPr>
              <a:t>/demo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91640" y="3035808"/>
            <a:ext cx="3931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4141E"/>
                </a:solidFill>
                <a:latin typeface="Calibri"/>
              </a:rPr>
              <a:t>45-minute demo prep: problem-first, 5 acts, objection scripts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72200" y="74980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7C3AED"/>
                </a:solidFill>
                <a:latin typeface="Calibri"/>
              </a:rPr>
              <a:t>LANGUAGE / FRAMEWORK  (7 — auto-trigger on file paths)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72200" y="1078992"/>
            <a:ext cx="5669280" cy="310896"/>
          </a:xfrm>
          <a:prstGeom prst="rect">
            <a:avLst/>
          </a:prstGeom>
          <a:solidFill>
            <a:srgbClr val="F5F0FF"/>
          </a:solidFill>
          <a:ln w="6350">
            <a:solidFill>
              <a:srgbClr val="DDDD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11155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7C3AED"/>
                </a:solidFill>
                <a:latin typeface="Courier New"/>
              </a:rPr>
              <a:t>/airflow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43800" y="1115568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55566"/>
                </a:solidFill>
                <a:latin typeface="Courier New"/>
              </a:rPr>
              <a:t>**/ dags/**/*.py,  **/plugins/**/*.py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72200" y="1399032"/>
            <a:ext cx="5669280" cy="310896"/>
          </a:xfrm>
          <a:prstGeom prst="rect">
            <a:avLst/>
          </a:prstGeom>
          <a:solidFill>
            <a:srgbClr val="F5F0FF"/>
          </a:solidFill>
          <a:ln w="6350">
            <a:solidFill>
              <a:srgbClr val="DDDD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143560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7C3AED"/>
                </a:solidFill>
                <a:latin typeface="Courier New"/>
              </a:rPr>
              <a:t>/pyspark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43800" y="1435608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55566"/>
                </a:solidFill>
                <a:latin typeface="Courier New"/>
              </a:rPr>
              <a:t>**/spark/**/*.py,  **/*_spark.py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72200" y="1719072"/>
            <a:ext cx="5669280" cy="310896"/>
          </a:xfrm>
          <a:prstGeom prst="rect">
            <a:avLst/>
          </a:prstGeom>
          <a:solidFill>
            <a:srgbClr val="F5F0FF"/>
          </a:solidFill>
          <a:ln w="6350">
            <a:solidFill>
              <a:srgbClr val="DDDD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0" y="175564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7C3AED"/>
                </a:solidFill>
                <a:latin typeface="Courier New"/>
              </a:rPr>
              <a:t>/python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43800" y="1755648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55566"/>
                </a:solidFill>
                <a:latin typeface="Courier New"/>
              </a:rPr>
              <a:t>**/*.py,  pyproject.toml,  requirements*.txt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72200" y="2039112"/>
            <a:ext cx="5669280" cy="310896"/>
          </a:xfrm>
          <a:prstGeom prst="rect">
            <a:avLst/>
          </a:prstGeom>
          <a:solidFill>
            <a:srgbClr val="F5F0FF"/>
          </a:solidFill>
          <a:ln w="6350">
            <a:solidFill>
              <a:srgbClr val="DDDD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09360" y="207568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7C3AED"/>
                </a:solidFill>
                <a:latin typeface="Courier New"/>
              </a:rPr>
              <a:t>/sql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43800" y="2075688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55566"/>
                </a:solidFill>
                <a:latin typeface="Courier New"/>
              </a:rPr>
              <a:t>**/*.sql,  dbt models,  schema.yml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172200" y="2359152"/>
            <a:ext cx="5669280" cy="310896"/>
          </a:xfrm>
          <a:prstGeom prst="rect">
            <a:avLst/>
          </a:prstGeom>
          <a:solidFill>
            <a:srgbClr val="F5F0FF"/>
          </a:solidFill>
          <a:ln w="6350">
            <a:solidFill>
              <a:srgbClr val="DDDD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09360" y="239572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7C3AED"/>
                </a:solidFill>
                <a:latin typeface="Courier New"/>
              </a:rPr>
              <a:t>/shell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543800" y="2395728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55566"/>
                </a:solidFill>
                <a:latin typeface="Courier New"/>
              </a:rPr>
              <a:t>**/*.sh,  **/*.bash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72200" y="2679192"/>
            <a:ext cx="5669280" cy="310896"/>
          </a:xfrm>
          <a:prstGeom prst="rect">
            <a:avLst/>
          </a:prstGeom>
          <a:solidFill>
            <a:srgbClr val="F5F0FF"/>
          </a:solidFill>
          <a:ln w="6350">
            <a:solidFill>
              <a:srgbClr val="DDDD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09360" y="27157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7C3AED"/>
                </a:solidFill>
                <a:latin typeface="Courier New"/>
              </a:rPr>
              <a:t>/docker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543800" y="2715768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55566"/>
                </a:solidFill>
                <a:latin typeface="Courier New"/>
              </a:rPr>
              <a:t>**/Dockerfile*,  **/docker-compose*.yml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172200" y="2999232"/>
            <a:ext cx="5669280" cy="310896"/>
          </a:xfrm>
          <a:prstGeom prst="rect">
            <a:avLst/>
          </a:prstGeom>
          <a:solidFill>
            <a:srgbClr val="F5F0FF"/>
          </a:solidFill>
          <a:ln w="6350">
            <a:solidFill>
              <a:srgbClr val="DDDD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09360" y="303580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7C3AED"/>
                </a:solidFill>
                <a:latin typeface="Courier New"/>
              </a:rPr>
              <a:t>/cicd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543800" y="3035808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55566"/>
                </a:solidFill>
                <a:latin typeface="Courier New"/>
              </a:rPr>
              <a:t>.github/workflows/*.yml,  .pre-commit-config.yaml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65760" y="3383280"/>
            <a:ext cx="11430000" cy="14630"/>
          </a:xfrm>
          <a:prstGeom prst="rect">
            <a:avLst/>
          </a:prstGeom>
          <a:solidFill>
            <a:srgbClr val="DDD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65760" y="3438144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52CC"/>
                </a:solidFill>
                <a:latin typeface="Calibri"/>
              </a:rPr>
              <a:t>DOMAIN  (6 — auto-trigger on topic keyword in prompt)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5760" y="3749039"/>
            <a:ext cx="3429000" cy="420624"/>
          </a:xfrm>
          <a:prstGeom prst="rect">
            <a:avLst/>
          </a:prstGeom>
          <a:solidFill>
            <a:srgbClr val="EEF4FF"/>
          </a:solidFill>
          <a:ln w="6350">
            <a:solidFill>
              <a:srgbClr val="DDDD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57200" y="3803903"/>
            <a:ext cx="1280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52CC"/>
                </a:solidFill>
                <a:latin typeface="Courier New"/>
              </a:rPr>
              <a:t>/nrql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828800" y="3822191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66"/>
                </a:solidFill>
                <a:latin typeface="Calibri"/>
              </a:rPr>
              <a:t>NRQL / New Relic query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114800" y="3749039"/>
            <a:ext cx="3429000" cy="420624"/>
          </a:xfrm>
          <a:prstGeom prst="rect">
            <a:avLst/>
          </a:prstGeom>
          <a:solidFill>
            <a:srgbClr val="EEF4FF"/>
          </a:solidFill>
          <a:ln w="6350">
            <a:solidFill>
              <a:srgbClr val="DDDD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206240" y="3803903"/>
            <a:ext cx="1280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52CC"/>
                </a:solidFill>
                <a:latin typeface="Courier New"/>
              </a:rPr>
              <a:t>/nralert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577840" y="3822191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66"/>
                </a:solidFill>
                <a:latin typeface="Calibri"/>
              </a:rPr>
              <a:t>alerts, muting rules, incidents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863840" y="3749039"/>
            <a:ext cx="3429000" cy="420624"/>
          </a:xfrm>
          <a:prstGeom prst="rect">
            <a:avLst/>
          </a:prstGeom>
          <a:solidFill>
            <a:srgbClr val="EEF4FF"/>
          </a:solidFill>
          <a:ln w="6350">
            <a:solidFill>
              <a:srgbClr val="DDDD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955280" y="3803903"/>
            <a:ext cx="1280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52CC"/>
                </a:solidFill>
                <a:latin typeface="Courier New"/>
              </a:rPr>
              <a:t>/terraform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326880" y="3822191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66"/>
                </a:solidFill>
                <a:latin typeface="Calibri"/>
              </a:rPr>
              <a:t>**/*.tf  or terraform mention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65760" y="4261103"/>
            <a:ext cx="3429000" cy="420624"/>
          </a:xfrm>
          <a:prstGeom prst="rect">
            <a:avLst/>
          </a:prstGeom>
          <a:solidFill>
            <a:srgbClr val="EEF4FF"/>
          </a:solidFill>
          <a:ln w="6350">
            <a:solidFill>
              <a:srgbClr val="DDDD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57200" y="4315967"/>
            <a:ext cx="1280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52CC"/>
                </a:solidFill>
                <a:latin typeface="Courier New"/>
              </a:rPr>
              <a:t>/openmetadata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0" y="4334255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66"/>
                </a:solidFill>
                <a:latin typeface="Calibri"/>
              </a:rPr>
              <a:t>ingestion yamls or OpenMetadata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114800" y="4261103"/>
            <a:ext cx="3429000" cy="420624"/>
          </a:xfrm>
          <a:prstGeom prst="rect">
            <a:avLst/>
          </a:prstGeom>
          <a:solidFill>
            <a:srgbClr val="EEF4FF"/>
          </a:solidFill>
          <a:ln w="6350">
            <a:solidFill>
              <a:srgbClr val="DDDD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206240" y="4315967"/>
            <a:ext cx="1280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52CC"/>
                </a:solidFill>
                <a:latin typeface="Courier New"/>
              </a:rPr>
              <a:t>/mcp-builder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577840" y="4334255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66"/>
                </a:solidFill>
                <a:latin typeface="Calibri"/>
              </a:rPr>
              <a:t>MCP server / tool design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863840" y="4261103"/>
            <a:ext cx="3429000" cy="420624"/>
          </a:xfrm>
          <a:prstGeom prst="rect">
            <a:avLst/>
          </a:prstGeom>
          <a:solidFill>
            <a:srgbClr val="EEF4FF"/>
          </a:solidFill>
          <a:ln w="6350">
            <a:solidFill>
              <a:srgbClr val="DDDD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955280" y="4315967"/>
            <a:ext cx="1280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52CC"/>
                </a:solidFill>
                <a:latin typeface="Courier New"/>
              </a:rPr>
              <a:t>/profiling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326880" y="4334255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66"/>
                </a:solidFill>
                <a:latin typeface="Calibri"/>
              </a:rPr>
              <a:t>cProfile / py-spy / slow Python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74320" y="6455664"/>
            <a:ext cx="10881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555566"/>
                </a:solidFill>
                <a:latin typeface="Calibri"/>
              </a:rPr>
              <a:t>© 2025 New Relic, Inc. All rights reserved.  Confidential and proprietary.  For internal use only, not for external distribution.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789920" y="6409944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00AC69"/>
                </a:solidFill>
                <a:latin typeface="Calibri"/>
              </a:rPr>
              <a:t>⬢ new relic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00AC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64008"/>
            <a:ext cx="11430000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The Daily Habit — /bootstrap Once, /wrap-up Every Session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914400"/>
            <a:ext cx="2560320" cy="1463040"/>
          </a:xfrm>
          <a:prstGeom prst="rect">
            <a:avLst/>
          </a:prstGeom>
          <a:solidFill>
            <a:srgbClr val="00AC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097280"/>
            <a:ext cx="2377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1  /bootstrap
(once per repo)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49039" y="14173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0AC69"/>
                </a:solidFill>
                <a:latin typeface="Calibri"/>
              </a:rPr>
              <a:t>→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0" y="914400"/>
            <a:ext cx="2560320" cy="1463040"/>
          </a:xfrm>
          <a:prstGeom prst="rect">
            <a:avLst/>
          </a:prstGeom>
          <a:solidFill>
            <a:srgbClr val="006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6240" y="1097280"/>
            <a:ext cx="2377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2  Open Claude Code
 in repo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14173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0AC69"/>
                </a:solidFill>
                <a:latin typeface="Calibri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0" y="914400"/>
            <a:ext cx="2560320" cy="14630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23760" y="1097280"/>
            <a:ext cx="2377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  Work
(skills auto-trigger)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0" y="14173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0AC69"/>
                </a:solidFill>
                <a:latin typeface="Calibri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149840" y="914400"/>
            <a:ext cx="2560320" cy="1463040"/>
          </a:xfrm>
          <a:prstGeom prst="rect">
            <a:avLst/>
          </a:prstGeom>
          <a:solidFill>
            <a:srgbClr val="005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241280" y="1097280"/>
            <a:ext cx="2377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  /wrap-up
(session end)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2606040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4141E"/>
                </a:solidFill>
                <a:latin typeface="Calibri"/>
              </a:rPr>
              <a:t>/bootstrap phases (~15s):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2944368"/>
            <a:ext cx="5394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AFF91"/>
                </a:solidFill>
                <a:latin typeface="Courier New"/>
              </a:rPr>
              <a:t>Phase 1  detect-stack.sh → classify language + framework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3236976"/>
            <a:ext cx="5394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AFF91"/>
                </a:solidFill>
                <a:latin typeface="Courier New"/>
              </a:rPr>
              <a:t>Phase 2  seed-memory.sh  → 6 memory files + plans/ dir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529584"/>
            <a:ext cx="5394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AFF91"/>
                </a:solidFill>
                <a:latin typeface="Courier New"/>
              </a:rPr>
              <a:t>Phase 3  write-project-claude.sh → .claude/CLAUDE.md + .mcp.json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3822191"/>
            <a:ext cx="5394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AFF91"/>
                </a:solidFill>
                <a:latin typeface="Courier New"/>
              </a:rPr>
              <a:t>Phase 4  build-graph.sh  → CRG install + build + GRAPH_REPORT.md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4114800"/>
            <a:ext cx="5394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AFF91"/>
                </a:solidFill>
                <a:latin typeface="Courier New"/>
              </a:rPr>
              <a:t>Phase 5  populate architecture.md from GRAPH_REPORT.md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26060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4141E"/>
                </a:solidFill>
                <a:latin typeface="Calibri"/>
              </a:rPr>
              <a:t>/wrap-up phases (~10s):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2944368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AFF91"/>
                </a:solidFill>
                <a:latin typeface="Courier New"/>
              </a:rPr>
              <a:t>Phase 0   corrections audit → lessons.md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3236976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AFF91"/>
                </a:solidFill>
                <a:latin typeface="Courier New"/>
              </a:rPr>
              <a:t>Phase 1   append-history → new ## &lt;date&gt; block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3529584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AFF91"/>
                </a:solidFill>
                <a:latin typeface="Courier New"/>
              </a:rPr>
              <a:t>Phase 2   todo update → Active/Backlog/Done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3822191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AFF91"/>
                </a:solidFill>
                <a:latin typeface="Courier New"/>
              </a:rPr>
              <a:t>Phase 3   lessons dedupe → promote to CLAUDE.md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4114800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AFF91"/>
                </a:solidFill>
                <a:latin typeface="Courier New"/>
              </a:rPr>
              <a:t>Phase 3.5 golden check (auto-prompt if 3 signals present)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4407408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AFF91"/>
                </a:solidFill>
                <a:latin typeface="Courier New"/>
              </a:rPr>
              <a:t>Phase 4   code-review-graph update + regen GRAPH_REPORT.md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4700016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AFF91"/>
                </a:solidFill>
                <a:latin typeface="Courier New"/>
              </a:rPr>
              <a:t>Phase 5   mirror-plans + regenerate hot.md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4992624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AFF91"/>
                </a:solidFill>
                <a:latin typeface="Courier New"/>
              </a:rPr>
              <a:t>Phase 6   handoff summary with counts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5961888"/>
            <a:ext cx="11430000" cy="14630"/>
          </a:xfrm>
          <a:prstGeom prst="rect">
            <a:avLst/>
          </a:prstGeom>
          <a:solidFill>
            <a:srgbClr val="DDD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5760" y="6016752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55566"/>
                </a:solidFill>
                <a:latin typeface="Calibri"/>
              </a:rPr>
              <a:t>hot.md is ~2k tokens (session start) · history.md, lessons.md, architecture.md are pull-on-demand via memory MCP · knowledge compounds across sessions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4320" y="6455664"/>
            <a:ext cx="10881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555566"/>
                </a:solidFill>
                <a:latin typeface="Calibri"/>
              </a:rPr>
              <a:t>© 2025 New Relic, Inc. All rights reserved.  Confidential and proprietary.  For internal use only, not for external distribution.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789920" y="6409944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00AC69"/>
                </a:solidFill>
                <a:latin typeface="Calibri"/>
              </a:rPr>
              <a:t>⬢ new relic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00AC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64008"/>
            <a:ext cx="11430000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Memory That Doesn't Decay — Knowledge Compounds Across Every Session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749808"/>
            <a:ext cx="11430000" cy="1481328"/>
          </a:xfrm>
          <a:prstGeom prst="rect">
            <a:avLst/>
          </a:prstGeom>
          <a:solidFill>
            <a:srgbClr val="00AC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859536"/>
            <a:ext cx="1371600" cy="274320"/>
          </a:xfrm>
          <a:prstGeom prst="rect">
            <a:avLst/>
          </a:prstGeom>
          <a:solidFill>
            <a:srgbClr val="FFC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87782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AUTO-LOADED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03120" y="859536"/>
            <a:ext cx="9509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hot.md  (~2k tokens)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9844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Active todos (top 10) + recent lessons (last 10) + architecture summary.
/wrap-up regenerates it every session from the live memory files.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322576"/>
            <a:ext cx="11430000" cy="1481328"/>
          </a:xfrm>
          <a:prstGeom prst="rect">
            <a:avLst/>
          </a:prstGeom>
          <a:solidFill>
            <a:srgbClr val="006B40"/>
          </a:solidFill>
          <a:ln w="12700">
            <a:solidFill>
              <a:srgbClr val="DDDD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432304"/>
            <a:ext cx="1371600" cy="274320"/>
          </a:xfrm>
          <a:prstGeom prst="rect">
            <a:avLst/>
          </a:prstGeom>
          <a:solidFill>
            <a:srgbClr val="006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450592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PULL ON DEMAND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20" y="2432304"/>
            <a:ext cx="9509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lessons.md  ·  architecture.md  ·  history.md  ·  todo.md  ·  plans/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871216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get_memory(topic) · search_memory(query) · list_lessons(tag) · get_todo(status) · recall_plan(slug)
Retrieved only when relevant — avoids drowning in stale context, 100–500 tokens/call.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895344"/>
            <a:ext cx="11430000" cy="1481328"/>
          </a:xfrm>
          <a:prstGeom prst="rect">
            <a:avLst/>
          </a:prstGeom>
          <a:solidFill>
            <a:srgbClr val="7C3AED"/>
          </a:solidFill>
          <a:ln w="12700">
            <a:solidFill>
              <a:srgbClr val="DDDD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4005072"/>
            <a:ext cx="1371600" cy="2743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402336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REPLAYABLE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20" y="4005072"/>
            <a:ext cx="9509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~/.claude/golden/&lt;slug&gt;.md  (indexed in golden/index.json)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4443984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/golden save kafka-consumer-lag-fix  →  distills session into schema: Symptom · Root Cause · Steps That Worked · What NOT To Do
/replay kafka-consumer-lag-fix  →  validates file refs, loads as prior-art plan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5513832"/>
            <a:ext cx="11430000" cy="402336"/>
          </a:xfrm>
          <a:prstGeom prst="rect">
            <a:avLst/>
          </a:prstGeom>
          <a:solidFill>
            <a:srgbClr val="E8F8F1"/>
          </a:solidFill>
          <a:ln w="12700">
            <a:solidFill>
              <a:srgbClr val="00AC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5577840"/>
            <a:ext cx="11064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6B40"/>
                </a:solidFill>
                <a:latin typeface="Calibri"/>
              </a:rPr>
              <a:t>Month 1: 8 blocking issues/task  →  Month 3: 1–2.  Every session the system gets sharper, not staler.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6455664"/>
            <a:ext cx="10881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555566"/>
                </a:solidFill>
                <a:latin typeface="Calibri"/>
              </a:rPr>
              <a:t>© 2025 New Relic, Inc. All rights reserved.  Confidential and proprietary.  For internal use only, not for external distribution.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89920" y="6409944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00AC69"/>
                </a:solidFill>
                <a:latin typeface="Calibri"/>
              </a:rPr>
              <a:t>⬢ new relic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00AC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64008"/>
            <a:ext cx="11430000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NR MCP: 2-Hour Incident Hunt → 30-Minute Root Cause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777240"/>
            <a:ext cx="5349240" cy="4983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777240"/>
            <a:ext cx="5349240" cy="36576"/>
          </a:xfrm>
          <a:prstGeom prst="rect">
            <a:avLst/>
          </a:prstGeom>
          <a:solidFill>
            <a:srgbClr val="E83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86868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4141E"/>
                </a:solidFill>
                <a:latin typeface="Calibri"/>
              </a:rPr>
              <a:t>BEFORE  —  Manual NR UI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298448"/>
            <a:ext cx="5257800" cy="3611880"/>
          </a:xfrm>
          <a:prstGeom prst="rect">
            <a:avLst/>
          </a:prstGeom>
          <a:solidFill>
            <a:srgbClr val="0E0E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298448"/>
            <a:ext cx="5257800" cy="256032"/>
          </a:xfrm>
          <a:prstGeom prst="rect">
            <a:avLst/>
          </a:prstGeom>
          <a:solidFill>
            <a:srgbClr val="222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21208" y="1362456"/>
            <a:ext cx="128016" cy="128016"/>
          </a:xfrm>
          <a:prstGeom prst="rect">
            <a:avLst/>
          </a:prstGeom>
          <a:solidFill>
            <a:srgbClr val="E83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22376" y="1362456"/>
            <a:ext cx="128016" cy="128016"/>
          </a:xfrm>
          <a:prstGeom prst="rect">
            <a:avLst/>
          </a:prstGeom>
          <a:solidFill>
            <a:srgbClr val="FFC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23544" y="1362456"/>
            <a:ext cx="128016" cy="128016"/>
          </a:xfrm>
          <a:prstGeom prst="rect">
            <a:avLst/>
          </a:prstGeom>
          <a:solidFill>
            <a:srgbClr val="00AC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627632"/>
            <a:ext cx="4983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89988"/>
                </a:solidFill>
                <a:latin typeface="Courier New"/>
              </a:rPr>
              <a:t># Alert fires 2am  →  you open NR UI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874520"/>
            <a:ext cx="4983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AFF91"/>
                </a:solidFill>
                <a:latin typeface="Courier New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121408"/>
            <a:ext cx="4983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AFF91"/>
                </a:solidFill>
                <a:latin typeface="Courier New"/>
              </a:rPr>
              <a:t>1. Navigate to entity manually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368296"/>
            <a:ext cx="4983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AFF91"/>
                </a:solidFill>
                <a:latin typeface="Courier New"/>
              </a:rPr>
              <a:t>2. Logs tab → scroll → ctrl+F 'error'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2615184"/>
            <a:ext cx="4983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AFF91"/>
                </a:solidFill>
                <a:latin typeface="Courier New"/>
              </a:rPr>
              <a:t>3. Metrics tab → compare time ranges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862072"/>
            <a:ext cx="4983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AFF91"/>
                </a:solidFill>
                <a:latin typeface="Courier New"/>
              </a:rPr>
              <a:t>4. Traces → click through spans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108960"/>
            <a:ext cx="4983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AFF91"/>
                </a:solidFill>
                <a:latin typeface="Courier New"/>
              </a:rPr>
              <a:t>5. Slack teammates for context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3355848"/>
            <a:ext cx="4983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AFF91"/>
                </a:solidFill>
                <a:latin typeface="Courier New"/>
              </a:rPr>
              <a:t>6. Form hypothesis → test → repeat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3602736"/>
            <a:ext cx="4983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AFF91"/>
                </a:solidFill>
                <a:latin typeface="Courier New"/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849624"/>
            <a:ext cx="4983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AFF91"/>
                </a:solidFill>
                <a:latin typeface="Courier New"/>
              </a:rPr>
              <a:t>⏱  avg: 2–3 hours to root cause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5029200"/>
            <a:ext cx="5349240" cy="594360"/>
          </a:xfrm>
          <a:prstGeom prst="rect">
            <a:avLst/>
          </a:prstGeom>
          <a:solidFill>
            <a:srgbClr val="FF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5120640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83040"/>
                </a:solidFill>
                <a:latin typeface="Calibri"/>
              </a:rPr>
              <a:t>Lost: sleep, momentum, time to fix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06440" y="30175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00AC69"/>
                </a:solidFill>
                <a:latin typeface="Calibri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46520" y="777240"/>
            <a:ext cx="5349240" cy="4983480"/>
          </a:xfrm>
          <a:prstGeom prst="rect">
            <a:avLst/>
          </a:prstGeom>
          <a:solidFill>
            <a:srgbClr val="E8F8F1"/>
          </a:solidFill>
          <a:ln w="19050">
            <a:solidFill>
              <a:srgbClr val="00AC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46520" y="777240"/>
            <a:ext cx="5349240" cy="36576"/>
          </a:xfrm>
          <a:prstGeom prst="rect">
            <a:avLst/>
          </a:prstGeom>
          <a:solidFill>
            <a:srgbClr val="00AC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29400" y="86868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6B40"/>
                </a:solidFill>
                <a:latin typeface="Calibri"/>
              </a:rPr>
              <a:t>AFTER  —  Claude Code + NR MCP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92240" y="1298448"/>
            <a:ext cx="5257800" cy="3611880"/>
          </a:xfrm>
          <a:prstGeom prst="rect">
            <a:avLst/>
          </a:prstGeom>
          <a:solidFill>
            <a:srgbClr val="0E0E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92240" y="1298448"/>
            <a:ext cx="5257800" cy="256032"/>
          </a:xfrm>
          <a:prstGeom prst="rect">
            <a:avLst/>
          </a:prstGeom>
          <a:solidFill>
            <a:srgbClr val="222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601968" y="1362456"/>
            <a:ext cx="128016" cy="128016"/>
          </a:xfrm>
          <a:prstGeom prst="rect">
            <a:avLst/>
          </a:prstGeom>
          <a:solidFill>
            <a:srgbClr val="E83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803136" y="1362456"/>
            <a:ext cx="128016" cy="128016"/>
          </a:xfrm>
          <a:prstGeom prst="rect">
            <a:avLst/>
          </a:prstGeom>
          <a:solidFill>
            <a:srgbClr val="FFC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004304" y="1362456"/>
            <a:ext cx="128016" cy="128016"/>
          </a:xfrm>
          <a:prstGeom prst="rect">
            <a:avLst/>
          </a:prstGeom>
          <a:solidFill>
            <a:srgbClr val="00AC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29400" y="1627632"/>
            <a:ext cx="4983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89988"/>
                </a:solidFill>
                <a:latin typeface="Courier New"/>
              </a:rPr>
              <a:t># Same alert, same 2am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29400" y="1874520"/>
            <a:ext cx="4983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AFF91"/>
                </a:solidFill>
                <a:latin typeface="Courier New"/>
              </a:rPr>
              <a:t/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400" y="2121408"/>
            <a:ext cx="4983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AFF91"/>
                </a:solidFill>
                <a:latin typeface="Courier New"/>
              </a:rPr>
              <a:t>&gt; "analyze kafka consumer lag last 4h"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29400" y="2368296"/>
            <a:ext cx="4983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AFF91"/>
                </a:solidFill>
                <a:latin typeface="Courier New"/>
              </a:rPr>
              <a:t/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29400" y="2615184"/>
            <a:ext cx="4983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0AC69"/>
                </a:solidFill>
                <a:latin typeface="Courier New"/>
              </a:rPr>
              <a:t>→ analyze_kafka_metrics(entity_guid)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29400" y="2862072"/>
            <a:ext cx="4983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AFF91"/>
                </a:solidFill>
                <a:latin typeface="Courier New"/>
              </a:rPr>
              <a:t>  consumer_lag: 847,293  (↑ 12×)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29400" y="3108960"/>
            <a:ext cx="4983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AFF91"/>
                </a:solidFill>
                <a:latin typeface="Courier New"/>
              </a:rPr>
              <a:t>  partition_balance: 3 of 8 skewed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29400" y="3355848"/>
            <a:ext cx="4983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AFF91"/>
                </a:solidFill>
                <a:latin typeface="Courier New"/>
              </a:rPr>
              <a:t>  throughput: dropped 89% at 01:47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29400" y="3602736"/>
            <a:ext cx="4983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AFF91"/>
                </a:solidFill>
                <a:latin typeface="Courier New"/>
              </a:rPr>
              <a:t/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29400" y="3849624"/>
            <a:ext cx="4983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0AC69"/>
                </a:solidFill>
                <a:latin typeface="Courier New"/>
              </a:rPr>
              <a:t>→ get_impact_radius('spark_ingest.py')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29400" y="4096512"/>
            <a:ext cx="4983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AFF91"/>
                </a:solidFill>
                <a:latin typeface="Courier New"/>
              </a:rPr>
              <a:t>  callers: 2,  affected_flows: 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29400" y="4343400"/>
            <a:ext cx="4983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AFF91"/>
                </a:solidFill>
                <a:latin typeface="Courier New"/>
              </a:rPr>
              <a:t>  downstream: om_airflow_daily_dag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629400" y="4590288"/>
            <a:ext cx="4983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AFF91"/>
                </a:solidFill>
                <a:latin typeface="Courier New"/>
              </a:rPr>
              <a:t/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29400" y="4837176"/>
            <a:ext cx="4983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AFF91"/>
                </a:solidFill>
                <a:latin typeface="Courier New"/>
              </a:rPr>
              <a:t>⏱  30 minutes to root cause + scoped fix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46520" y="5029200"/>
            <a:ext cx="5349240" cy="594360"/>
          </a:xfrm>
          <a:prstGeom prst="rect">
            <a:avLst/>
          </a:prstGeom>
          <a:solidFill>
            <a:srgbClr val="E8F8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629400" y="5047488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6B40"/>
                </a:solidFill>
                <a:latin typeface="Calibri"/>
              </a:rPr>
              <a:t>NR MCP tools: analyze_kafka_metrics · analyze_entity_logs · analyze_golden_metrics
list_recent_issues · get_distributed_trace_details · execute_nrql_query · list_entity_error_groups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4320" y="6455664"/>
            <a:ext cx="10881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555566"/>
                </a:solidFill>
                <a:latin typeface="Calibri"/>
              </a:rPr>
              <a:t>© 2025 New Relic, Inc. All rights reserved.  Confidential and proprietary.  For internal use only, not for external distribution.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789920" y="6409944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00AC69"/>
                </a:solidFill>
                <a:latin typeface="Calibri"/>
              </a:rPr>
              <a:t>⬢ new relic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00AC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64008"/>
            <a:ext cx="11430000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Code-Review-Graph: Blast Radius Before You Write a 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49808"/>
            <a:ext cx="11430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7C3AED"/>
                </a:solidFill>
                <a:latin typeface="Calibri"/>
              </a:rPr>
              <a:t>code-review-graph  —  Tree-sitter AST + SQLite + 28 MCP tools per repo  (auto-builds on /bootstrap, auto-updates on every Edit)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651760" cy="1554480"/>
          </a:xfrm>
          <a:prstGeom prst="rect">
            <a:avLst/>
          </a:prstGeom>
          <a:solidFill>
            <a:srgbClr val="FFFFFF"/>
          </a:solidFill>
          <a:ln w="19050">
            <a:solidFill>
              <a:srgbClr val="DDDD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463040"/>
            <a:ext cx="2468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4141E"/>
                </a:solidFill>
                <a:latin typeface="Calibri"/>
              </a:rPr>
              <a:t>You edit
spark_ingest.py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17830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00AC69"/>
                </a:solidFill>
                <a:latin typeface="Calibri"/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1188720"/>
            <a:ext cx="2651760" cy="1554480"/>
          </a:xfrm>
          <a:prstGeom prst="rect">
            <a:avLst/>
          </a:prstGeom>
          <a:solidFill>
            <a:srgbClr val="7C3AED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83280" y="1463040"/>
            <a:ext cx="2468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ourier New"/>
              </a:rPr>
              <a:t>get_impact_
radius()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89320" y="17830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00AC69"/>
                </a:solidFill>
                <a:latin typeface="Calibri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188720"/>
            <a:ext cx="2651760" cy="1554480"/>
          </a:xfrm>
          <a:prstGeom prst="rect">
            <a:avLst/>
          </a:prstGeom>
          <a:solidFill>
            <a:srgbClr val="E8F8F1"/>
          </a:solidFill>
          <a:ln w="19050">
            <a:solidFill>
              <a:srgbClr val="00AC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1463040"/>
            <a:ext cx="2468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6B40"/>
                </a:solidFill>
                <a:latin typeface="Calibri"/>
              </a:rPr>
              <a:t>Callers: 2
Flows: 4
Consumers: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400" y="17830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00AC69"/>
                </a:solidFill>
                <a:latin typeface="Calibri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0" y="1188720"/>
            <a:ext cx="2651760" cy="1554480"/>
          </a:xfrm>
          <a:prstGeom prst="rect">
            <a:avLst/>
          </a:prstGeom>
          <a:solidFill>
            <a:srgbClr val="00AC69"/>
          </a:solidFill>
          <a:ln w="19050">
            <a:solidFill>
              <a:srgbClr val="00AC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0" y="1463040"/>
            <a:ext cx="2468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Fix scoped.
Ship safely.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294436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4141E"/>
                </a:solidFill>
                <a:latin typeface="Calibri"/>
              </a:rPr>
              <a:t>28 MCP tools — key ones: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310128"/>
            <a:ext cx="5486400" cy="347472"/>
          </a:xfrm>
          <a:prstGeom prst="rect">
            <a:avLst/>
          </a:prstGeom>
          <a:solidFill>
            <a:srgbClr val="F5F0FF"/>
          </a:solidFill>
          <a:ln w="6350">
            <a:solidFill>
              <a:srgbClr val="DDDD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3346704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C3AED"/>
                </a:solidFill>
                <a:latin typeface="Courier New"/>
              </a:rPr>
              <a:t>get_impact_radius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3355848"/>
            <a:ext cx="2971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4141E"/>
                </a:solidFill>
                <a:latin typeface="Calibri"/>
              </a:rPr>
              <a:t>Blast radius of a change — callers, callees, affected flows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7920" y="3310128"/>
            <a:ext cx="5486400" cy="347472"/>
          </a:xfrm>
          <a:prstGeom prst="rect">
            <a:avLst/>
          </a:prstGeom>
          <a:solidFill>
            <a:srgbClr val="F5F0FF"/>
          </a:solidFill>
          <a:ln w="6350">
            <a:solidFill>
              <a:srgbClr val="DDDD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60" y="3346704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C3AED"/>
                </a:solidFill>
                <a:latin typeface="Courier New"/>
              </a:rPr>
              <a:t>detect_changes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95360" y="3355848"/>
            <a:ext cx="2971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4141E"/>
                </a:solidFill>
                <a:latin typeface="Calibri"/>
              </a:rPr>
              <a:t>Risk-scored review: what changed and what it touches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3694176"/>
            <a:ext cx="5486400" cy="347472"/>
          </a:xfrm>
          <a:prstGeom prst="rect">
            <a:avLst/>
          </a:prstGeom>
          <a:solidFill>
            <a:srgbClr val="F5F0FF"/>
          </a:solidFill>
          <a:ln w="6350">
            <a:solidFill>
              <a:srgbClr val="DDDD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3730752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C3AED"/>
                </a:solidFill>
                <a:latin typeface="Courier New"/>
              </a:rPr>
              <a:t>query_graph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0" y="3739896"/>
            <a:ext cx="2971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4141E"/>
                </a:solidFill>
                <a:latin typeface="Calibri"/>
              </a:rPr>
              <a:t>callers_of / callees_of / imports_of / tests_for / file_summary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7920" y="3694176"/>
            <a:ext cx="5486400" cy="347472"/>
          </a:xfrm>
          <a:prstGeom prst="rect">
            <a:avLst/>
          </a:prstGeom>
          <a:solidFill>
            <a:srgbClr val="F5F0FF"/>
          </a:solidFill>
          <a:ln w="6350">
            <a:solidFill>
              <a:srgbClr val="DDDD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09360" y="3730752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C3AED"/>
                </a:solidFill>
                <a:latin typeface="Courier New"/>
              </a:rPr>
              <a:t>semantic_search_nodes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95360" y="3739896"/>
            <a:ext cx="2971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4141E"/>
                </a:solidFill>
                <a:latin typeface="Calibri"/>
              </a:rPr>
              <a:t>Find functions/classes by name or semantic similarity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4078224"/>
            <a:ext cx="5486400" cy="347472"/>
          </a:xfrm>
          <a:prstGeom prst="rect">
            <a:avLst/>
          </a:prstGeom>
          <a:solidFill>
            <a:srgbClr val="F5F0FF"/>
          </a:solidFill>
          <a:ln w="6350">
            <a:solidFill>
              <a:srgbClr val="DDDD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411480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C3AED"/>
                </a:solidFill>
                <a:latin typeface="Courier New"/>
              </a:rPr>
              <a:t>get_affected_flows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3200" y="4123944"/>
            <a:ext cx="2971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4141E"/>
                </a:solidFill>
                <a:latin typeface="Calibri"/>
              </a:rPr>
              <a:t>Which execution paths pass through changed files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17920" y="4078224"/>
            <a:ext cx="5486400" cy="347472"/>
          </a:xfrm>
          <a:prstGeom prst="rect">
            <a:avLst/>
          </a:prstGeom>
          <a:solidFill>
            <a:srgbClr val="F5F0FF"/>
          </a:solidFill>
          <a:ln w="6350">
            <a:solidFill>
              <a:srgbClr val="DDDD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0" y="411480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C3AED"/>
                </a:solidFill>
                <a:latin typeface="Courier New"/>
              </a:rPr>
              <a:t>get_architecture_overview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95360" y="4123944"/>
            <a:ext cx="2971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4141E"/>
                </a:solidFill>
                <a:latin typeface="Calibri"/>
              </a:rPr>
              <a:t>High-level community structure + coupling analysis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4462272"/>
            <a:ext cx="5486400" cy="347472"/>
          </a:xfrm>
          <a:prstGeom prst="rect">
            <a:avLst/>
          </a:prstGeom>
          <a:solidFill>
            <a:srgbClr val="F5F0FF"/>
          </a:solidFill>
          <a:ln w="6350">
            <a:solidFill>
              <a:srgbClr val="DDDD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4498848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C3AED"/>
                </a:solidFill>
                <a:latin typeface="Courier New"/>
              </a:rPr>
              <a:t>get_review_context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743200" y="4507992"/>
            <a:ext cx="2971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4141E"/>
                </a:solidFill>
                <a:latin typeface="Calibri"/>
              </a:rPr>
              <a:t>Token-efficient review: source + impact in one call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17920" y="4462272"/>
            <a:ext cx="5486400" cy="347472"/>
          </a:xfrm>
          <a:prstGeom prst="rect">
            <a:avLst/>
          </a:prstGeom>
          <a:solidFill>
            <a:srgbClr val="F5F0FF"/>
          </a:solidFill>
          <a:ln w="6350">
            <a:solidFill>
              <a:srgbClr val="DDDD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09360" y="4498848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C3AED"/>
                </a:solidFill>
                <a:latin typeface="Courier New"/>
              </a:rPr>
              <a:t>refactor_tool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95360" y="4507992"/>
            <a:ext cx="2971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4141E"/>
                </a:solidFill>
                <a:latin typeface="Calibri"/>
              </a:rPr>
              <a:t>rename preview / dead_code scan / suggest misplaced functions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74320" y="6455664"/>
            <a:ext cx="10881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555566"/>
                </a:solidFill>
                <a:latin typeface="Calibri"/>
              </a:rPr>
              <a:t>© 2025 New Relic, Inc. All rights reserved.  Confidential and proprietary.  For internal use only, not for external distribution.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789920" y="6409944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00AC69"/>
                </a:solidFill>
                <a:latin typeface="Calibri"/>
              </a:rPr>
              <a:t>⬢ new relic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00AC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64008"/>
            <a:ext cx="11430000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/avengers — Multi-Agent Orchestration for Tasks Too Big for One Pass</a:t>
            </a:r>
          </a:p>
        </p:txBody>
      </p:sp>
      <p:sp>
        <p:nvSpPr>
          <p:cNvPr id="4" name="Rectangle 3"/>
          <p:cNvSpPr/>
          <p:nvPr/>
        </p:nvSpPr>
        <p:spPr>
          <a:xfrm>
            <a:off x="3931920" y="777240"/>
            <a:ext cx="4297680" cy="822960"/>
          </a:xfrm>
          <a:prstGeom prst="rect">
            <a:avLst/>
          </a:prstGeom>
          <a:solidFill>
            <a:srgbClr val="1A1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9080" y="896112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Nick Fury  (Opus — Orchestrator)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69080" y="1252728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0AC69"/>
                </a:solidFill>
                <a:latin typeface="Calibri"/>
              </a:rPr>
              <a:t>Routes work · validates gates · blocks bad code · shuts down on completion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920240"/>
            <a:ext cx="2743200" cy="13716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2103120"/>
            <a:ext cx="2560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strange-architect
(design + API contracts)</a:t>
            </a:r>
          </a:p>
        </p:txBody>
      </p:sp>
      <p:sp>
        <p:nvSpPr>
          <p:cNvPr id="9" name="Rectangle 8"/>
          <p:cNvSpPr/>
          <p:nvPr/>
        </p:nvSpPr>
        <p:spPr>
          <a:xfrm>
            <a:off x="3291840" y="1920240"/>
            <a:ext cx="2743200" cy="1371600"/>
          </a:xfrm>
          <a:prstGeom prst="rect">
            <a:avLst/>
          </a:prstGeom>
          <a:solidFill>
            <a:srgbClr val="00AC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83280" y="2103120"/>
            <a:ext cx="2560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stark-engineer-1…N
(Sonnet, parallel coders)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920240"/>
            <a:ext cx="2743200" cy="1371600"/>
          </a:xfrm>
          <a:prstGeom prst="rect">
            <a:avLst/>
          </a:prstGeom>
          <a:solidFill>
            <a:srgbClr val="005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2103120"/>
            <a:ext cx="2560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natasha-reviewer
(code + security review)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0" y="1920240"/>
            <a:ext cx="2743200" cy="1371600"/>
          </a:xfrm>
          <a:prstGeom prst="rect">
            <a:avLst/>
          </a:prstGeom>
          <a:solidFill>
            <a:srgbClr val="006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0" y="2103120"/>
            <a:ext cx="2560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hawkeye-validator
(tests + blast radius)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" y="3456432"/>
            <a:ext cx="11612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55566"/>
                </a:solidFill>
                <a:latin typeface="Calibri"/>
              </a:rPr>
              <a:t>Optional domain specialists (spawned on demand by Fury):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3749039"/>
            <a:ext cx="37490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4141E"/>
                </a:solidFill>
                <a:latin typeface="Calibri"/>
              </a:rPr>
              <a:t>· rogers-data-engineer (pipelines, ETL, warehouse)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40" y="3749039"/>
            <a:ext cx="37490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4141E"/>
                </a:solidFill>
                <a:latin typeface="Calibri"/>
              </a:rPr>
              <a:t>· maximoff-python-engineer (PySpark, Airflow, pandas)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3749039"/>
            <a:ext cx="37490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4141E"/>
                </a:solidFill>
                <a:latin typeface="Calibri"/>
              </a:rPr>
              <a:t>· thor-devops (Terraform, CI/CD, K8s)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4096512"/>
            <a:ext cx="11612880" cy="1920240"/>
          </a:xfrm>
          <a:prstGeom prst="rect">
            <a:avLst/>
          </a:prstGeom>
          <a:solidFill>
            <a:srgbClr val="0E0E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169663"/>
            <a:ext cx="11247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89988"/>
                </a:solidFill>
                <a:latin typeface="Courier New"/>
              </a:rPr>
              <a:t># Real example: Airflow DAG + dbt model + NR alert condition — what used to take 1 day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416552"/>
            <a:ext cx="11247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0AC69"/>
                </a:solidFill>
                <a:latin typeface="Courier New"/>
              </a:rPr>
              <a:t>&gt; /avengers 'add daily_reconciliation_dag with NR alert on SLA breach'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68172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AFF91"/>
                </a:solidFill>
                <a:latin typeface="Courier New"/>
              </a:rPr>
              <a:t>→ Fury reads spec + graph context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4901184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AFF91"/>
                </a:solidFill>
                <a:latin typeface="Courier New"/>
              </a:rPr>
              <a:t>→ Spawns strange-architect (designs DAG topology) + stark-engineer-1 (writes DAG) in PARALLEL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120640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AFF91"/>
                </a:solidFill>
                <a:latin typeface="Courier New"/>
              </a:rPr>
              <a:t>→ stark-engineer-2 writes NR alert HCL while stark-engineer-1 finishes DAG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53400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AFF91"/>
                </a:solidFill>
                <a:latin typeface="Courier New"/>
              </a:rPr>
              <a:t>→ natasha-reviewer: code standards + OWASP + blast radius check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559552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AFF91"/>
                </a:solidFill>
                <a:latin typeface="Courier New"/>
              </a:rPr>
              <a:t>→ hawkeye-validator: runs tests, confirms 0 regressions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577900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AFF91"/>
                </a:solidFill>
                <a:latin typeface="Courier New"/>
              </a:rPr>
              <a:t>→ Fury: merges output, generates PR description, shuts down team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" y="6455664"/>
            <a:ext cx="10881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555566"/>
                </a:solidFill>
                <a:latin typeface="Calibri"/>
              </a:rPr>
              <a:t>© 2025 New Relic, Inc. All rights reserved.  Confidential and proprietary.  For internal use only, not for external distribution.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0" y="6409944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00AC69"/>
                </a:solidFill>
                <a:latin typeface="Calibri"/>
              </a:rPr>
              <a:t>⬢ new relic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00AC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64008"/>
            <a:ext cx="11430000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Jira + Confluence MCP — Zero Copy-Paste, Every Session Documented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822960"/>
            <a:ext cx="210312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DDDD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19202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4141E"/>
                </a:solidFill>
                <a:latin typeface="Calibri"/>
              </a:rPr>
              <a:t>Dev merges PR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78608" y="1170432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0AC69"/>
                </a:solidFill>
                <a:latin typeface="Calibri"/>
              </a:rPr>
              <a:t>→</a:t>
            </a:r>
          </a:p>
        </p:txBody>
      </p:sp>
      <p:sp>
        <p:nvSpPr>
          <p:cNvPr id="7" name="Rectangle 6"/>
          <p:cNvSpPr/>
          <p:nvPr/>
        </p:nvSpPr>
        <p:spPr>
          <a:xfrm>
            <a:off x="2706624" y="822960"/>
            <a:ext cx="2103120" cy="1005840"/>
          </a:xfrm>
          <a:prstGeom prst="rect">
            <a:avLst/>
          </a:prstGeom>
          <a:solidFill>
            <a:srgbClr val="E8F8F1"/>
          </a:solidFill>
          <a:ln w="19050">
            <a:solidFill>
              <a:srgbClr val="00AC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98064" y="1005840"/>
            <a:ext cx="19202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06B40"/>
                </a:solidFill>
                <a:latin typeface="Calibri"/>
              </a:rPr>
              <a:t>/wrap-up fires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19472" y="1170432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0AC69"/>
                </a:solidFill>
                <a:latin typeface="Calibri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47488" y="822960"/>
            <a:ext cx="2103120" cy="1005840"/>
          </a:xfrm>
          <a:prstGeom prst="rect">
            <a:avLst/>
          </a:prstGeom>
          <a:solidFill>
            <a:srgbClr val="E8F8F1"/>
          </a:solidFill>
          <a:ln w="19050">
            <a:solidFill>
              <a:srgbClr val="00AC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38928" y="1005840"/>
            <a:ext cx="19202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06B40"/>
                </a:solidFill>
                <a:latin typeface="Calibri"/>
              </a:rPr>
              <a:t>Claude drafts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60336" y="1170432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0AC69"/>
                </a:solidFill>
                <a:latin typeface="Calibri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88352" y="822960"/>
            <a:ext cx="2103120" cy="1005840"/>
          </a:xfrm>
          <a:prstGeom prst="rect">
            <a:avLst/>
          </a:prstGeom>
          <a:solidFill>
            <a:srgbClr val="0052CC"/>
          </a:solidFill>
          <a:ln w="19050">
            <a:solidFill>
              <a:srgbClr val="005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79792" y="1005840"/>
            <a:ext cx="19202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Jira updated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1170432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0AC69"/>
                </a:solidFill>
                <a:latin typeface="Calibri"/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729216" y="822960"/>
            <a:ext cx="2103120" cy="1005840"/>
          </a:xfrm>
          <a:prstGeom prst="rect">
            <a:avLst/>
          </a:prstGeom>
          <a:solidFill>
            <a:srgbClr val="0052CC"/>
          </a:solidFill>
          <a:ln w="19050">
            <a:solidFill>
              <a:srgbClr val="005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20656" y="1005840"/>
            <a:ext cx="19202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Confluence
published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1993392"/>
            <a:ext cx="5486400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1993392"/>
            <a:ext cx="5486400" cy="384048"/>
          </a:xfrm>
          <a:prstGeom prst="rect">
            <a:avLst/>
          </a:prstGeom>
          <a:solidFill>
            <a:srgbClr val="005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2039112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Jira — Auto-populated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2468880"/>
            <a:ext cx="5212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4141E"/>
                </a:solidFill>
                <a:latin typeface="Calibri"/>
              </a:rPr>
              <a:t>Status:    In Review → Done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2798064"/>
            <a:ext cx="5212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4141E"/>
                </a:solidFill>
                <a:latin typeface="Calibri"/>
              </a:rPr>
              <a:t>Comment:   what was done, decisions made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3127248"/>
            <a:ext cx="5212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4141E"/>
                </a:solidFill>
                <a:latin typeface="Calibri"/>
              </a:rPr>
              <a:t>Time:      logged from session duration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3456432"/>
            <a:ext cx="5212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4141E"/>
                </a:solidFill>
                <a:latin typeface="Calibri"/>
              </a:rPr>
              <a:t>Linked:    to commits via branch name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3785616"/>
            <a:ext cx="5212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4141E"/>
                </a:solidFill>
                <a:latin typeface="Calibri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4114800"/>
            <a:ext cx="5212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4141E"/>
                </a:solidFill>
                <a:latin typeface="Calibri"/>
              </a:rPr>
              <a:t>Jira MCP tools used: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4443984"/>
            <a:ext cx="5212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00AC69"/>
                </a:solidFill>
                <a:latin typeface="Courier New"/>
              </a:rPr>
              <a:t>  editJiraIssue · addCommentToJiraIssue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4773168"/>
            <a:ext cx="5212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00AC69"/>
                </a:solidFill>
                <a:latin typeface="Courier New"/>
              </a:rPr>
              <a:t>  transitionJiraIssue · addWorklogToJiraIssue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63640" y="1993392"/>
            <a:ext cx="5486400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63640" y="1993392"/>
            <a:ext cx="5486400" cy="384048"/>
          </a:xfrm>
          <a:prstGeom prst="rect">
            <a:avLst/>
          </a:prstGeom>
          <a:solidFill>
            <a:srgbClr val="005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0" y="2039112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Confluence — Auto-published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2468880"/>
            <a:ext cx="5212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4141E"/>
                </a:solidFill>
                <a:latin typeface="Calibri"/>
              </a:rPr>
              <a:t>Architecture decisions: auto-logged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2798064"/>
            <a:ext cx="5212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4141E"/>
                </a:solidFill>
                <a:latin typeface="Calibri"/>
              </a:rPr>
              <a:t>Incident postmortem:    page auto-created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3127248"/>
            <a:ext cx="5212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4141E"/>
                </a:solidFill>
                <a:latin typeface="Calibri"/>
              </a:rPr>
              <a:t>Release notes:          from git history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3456432"/>
            <a:ext cx="5212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4141E"/>
                </a:solidFill>
                <a:latin typeface="Calibri"/>
              </a:rPr>
              <a:t>Categorized by area, files changed listed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3785616"/>
            <a:ext cx="5212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4141E"/>
                </a:solidFill>
                <a:latin typeface="Calibri"/>
              </a:rPr>
              <a:t/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4114800"/>
            <a:ext cx="5212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4141E"/>
                </a:solidFill>
                <a:latin typeface="Calibri"/>
              </a:rPr>
              <a:t>Confluence MCP tools used: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4443984"/>
            <a:ext cx="5212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00AC69"/>
                </a:solidFill>
                <a:latin typeface="Courier New"/>
              </a:rPr>
              <a:t>  createConfluencePage · updateConfluencePage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4773168"/>
            <a:ext cx="5212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00AC69"/>
                </a:solidFill>
                <a:latin typeface="Courier New"/>
              </a:rPr>
              <a:t>  searchConfluenceUsingCql · createFooterComment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5788152"/>
            <a:ext cx="11430000" cy="14630"/>
          </a:xfrm>
          <a:prstGeom prst="rect">
            <a:avLst/>
          </a:prstGeom>
          <a:solidFill>
            <a:srgbClr val="DDD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585216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4141E"/>
                </a:solidFill>
                <a:latin typeface="Calibri"/>
              </a:rPr>
              <a:t>Zero manual effort.  Every session documented.  Every time.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4320" y="6455664"/>
            <a:ext cx="10881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555566"/>
                </a:solidFill>
                <a:latin typeface="Calibri"/>
              </a:rPr>
              <a:t>© 2025 New Relic, Inc. All rights reserved.  Confidential and proprietary.  For internal use only, not for external distribution.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789920" y="6409944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00AC69"/>
                </a:solidFill>
                <a:latin typeface="Calibri"/>
              </a:rPr>
              <a:t>⬢ new relic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00AC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64008"/>
            <a:ext cx="11430000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Model Routing — Right Tool, Right Cost, No Waste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49808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5566"/>
                </a:solidFill>
                <a:latin typeface="Calibri"/>
              </a:rPr>
              <a:t>Output cost dominates: Opus $75/M · Sonnet $15/M · Haiku $5/M.  Default = Sonnet.  Escalate per-turn, not per-session.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43000"/>
            <a:ext cx="3657600" cy="4617720"/>
          </a:xfrm>
          <a:prstGeom prst="rect">
            <a:avLst/>
          </a:prstGeom>
          <a:solidFill>
            <a:srgbClr val="FFFFFF"/>
          </a:solidFill>
          <a:ln w="19050">
            <a:solidFill>
              <a:srgbClr val="0070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43000"/>
            <a:ext cx="3657600" cy="402336"/>
          </a:xfrm>
          <a:prstGeom prst="rect">
            <a:avLst/>
          </a:prstGeom>
          <a:solidFill>
            <a:srgbClr val="0070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197864"/>
            <a:ext cx="343814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HAIKU 4.5  (cheapest)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1645920"/>
            <a:ext cx="343814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4141E"/>
                </a:solidFill>
                <a:latin typeface="Calibri"/>
              </a:rPr>
              <a:t>• Jira / Confluence fetch + summarize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2139696"/>
            <a:ext cx="343814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4141E"/>
                </a:solidFill>
                <a:latin typeface="Calibri"/>
              </a:rPr>
              <a:t>• NRQL query execution + format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2633472"/>
            <a:ext cx="343814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4141E"/>
                </a:solidFill>
                <a:latin typeface="Calibri"/>
              </a:rPr>
              <a:t>• File search / grep / glob / cat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3127248"/>
            <a:ext cx="343814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4141E"/>
                </a:solidFill>
                <a:latin typeface="Calibri"/>
              </a:rPr>
              <a:t>• Lint fix from explicit error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" y="3621024"/>
            <a:ext cx="343814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4141E"/>
                </a:solidFill>
                <a:latin typeface="Calibri"/>
              </a:rPr>
              <a:t>• Rename / format / simple transform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" y="4114800"/>
            <a:ext cx="343814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4141E"/>
                </a:solidFill>
                <a:latin typeface="Calibri"/>
              </a:rPr>
              <a:t>• Commit message from diff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97680" y="1143000"/>
            <a:ext cx="3657600" cy="4617720"/>
          </a:xfrm>
          <a:prstGeom prst="rect">
            <a:avLst/>
          </a:prstGeom>
          <a:solidFill>
            <a:srgbClr val="FFFFFF"/>
          </a:solidFill>
          <a:ln w="19050">
            <a:solidFill>
              <a:srgbClr val="00AC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97680" y="1143000"/>
            <a:ext cx="3657600" cy="402336"/>
          </a:xfrm>
          <a:prstGeom prst="rect">
            <a:avLst/>
          </a:prstGeom>
          <a:solidFill>
            <a:srgbClr val="00AC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07408" y="1197864"/>
            <a:ext cx="343814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SONNET 4.6  (DEFAULT)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07408" y="1645920"/>
            <a:ext cx="343814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4141E"/>
                </a:solidFill>
                <a:latin typeface="Calibri"/>
              </a:rPr>
              <a:t>• Bug fix with clear hypothesis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07408" y="2139696"/>
            <a:ext cx="343814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4141E"/>
                </a:solidFill>
                <a:latin typeface="Calibri"/>
              </a:rPr>
              <a:t>• Feature implementation (follows patterns)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07408" y="2633472"/>
            <a:ext cx="343814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4141E"/>
                </a:solidFill>
                <a:latin typeface="Calibri"/>
              </a:rPr>
              <a:t>• Unit tests on known function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07408" y="3127248"/>
            <a:ext cx="343814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4141E"/>
                </a:solidFill>
                <a:latin typeface="Calibri"/>
              </a:rPr>
              <a:t>• Cross-file refactor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07408" y="3621024"/>
            <a:ext cx="343814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4141E"/>
                </a:solidFill>
                <a:latin typeface="Calibri"/>
              </a:rPr>
              <a:t>• Code review on PR &lt;500 lines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07408" y="4114800"/>
            <a:ext cx="343814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4141E"/>
                </a:solidFill>
                <a:latin typeface="Calibri"/>
              </a:rPr>
              <a:t>• Template-driven rewrite (skill rewrites)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0" y="1143000"/>
            <a:ext cx="3657600" cy="4617720"/>
          </a:xfrm>
          <a:prstGeom prst="rect">
            <a:avLst/>
          </a:prstGeom>
          <a:solidFill>
            <a:srgbClr val="FFFF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229600" y="1143000"/>
            <a:ext cx="3657600" cy="40233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39328" y="1197864"/>
            <a:ext cx="343814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OPUS 4.7  (5× cost — earn it)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39328" y="1645920"/>
            <a:ext cx="343814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4141E"/>
                </a:solidFill>
                <a:latin typeface="Calibri"/>
              </a:rPr>
              <a:t>• /bootstrap  (deep codebase analysis)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39328" y="2139696"/>
            <a:ext cx="343814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4141E"/>
                </a:solidFill>
                <a:latin typeface="Calibri"/>
              </a:rPr>
              <a:t>• /avengers Fury (orchestrator)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39328" y="2633472"/>
            <a:ext cx="343814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4141E"/>
                </a:solidFill>
                <a:latin typeface="Calibri"/>
              </a:rPr>
              <a:t>• Architecture design + security review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39328" y="3127248"/>
            <a:ext cx="343814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4141E"/>
                </a:solidFill>
                <a:latin typeface="Calibri"/>
              </a:rPr>
              <a:t>• Production incident, unclear cause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39328" y="3621024"/>
            <a:ext cx="343814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4141E"/>
                </a:solidFill>
                <a:latin typeface="Calibri"/>
              </a:rPr>
              <a:t>• Complex PR review &gt;500 lines critical path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39328" y="4114800"/>
            <a:ext cx="343814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4141E"/>
                </a:solidFill>
                <a:latin typeface="Calibri"/>
              </a:rPr>
              <a:t>• Multi-phase initiative planning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4320" y="6455664"/>
            <a:ext cx="10881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555566"/>
                </a:solidFill>
                <a:latin typeface="Calibri"/>
              </a:rPr>
              <a:t>© 2025 New Relic, Inc. All rights reserved.  Confidential and proprietary.  For internal use only, not for external distribution.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789920" y="6409944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00AC69"/>
                </a:solidFill>
                <a:latin typeface="Calibri"/>
              </a:rPr>
              <a:t>⬢ new relic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00AC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64008"/>
            <a:ext cx="11430000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Productivity Multipliers — Honest Numbers, Real DE 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804672"/>
            <a:ext cx="1143000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804672"/>
            <a:ext cx="73152" cy="1005840"/>
          </a:xfrm>
          <a:prstGeom prst="rect">
            <a:avLst/>
          </a:prstGeom>
          <a:solidFill>
            <a:srgbClr val="00AC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896112"/>
            <a:ext cx="8686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4141E"/>
                </a:solidFill>
                <a:latin typeface="Calibri"/>
              </a:rPr>
              <a:t>Repetitive DE tasks with /replay goldens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61872"/>
            <a:ext cx="8686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5566"/>
                </a:solidFill>
                <a:latin typeface="Calibri"/>
              </a:rPr>
              <a:t>DAG edits, alert tuning, connector YAML, routine fixes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1033272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00AC69"/>
                </a:solidFill>
                <a:latin typeface="Calibri"/>
              </a:rPr>
              <a:t>~50×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920240"/>
            <a:ext cx="1143000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1920240"/>
            <a:ext cx="73152" cy="1005840"/>
          </a:xfrm>
          <a:prstGeom prst="rect">
            <a:avLst/>
          </a:prstGeom>
          <a:solidFill>
            <a:srgbClr val="005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011680"/>
            <a:ext cx="8686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4141E"/>
                </a:solidFill>
                <a:latin typeface="Calibri"/>
              </a:rPr>
              <a:t>Novel feature work  —  graph-first nav + memory MCP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377440"/>
            <a:ext cx="8686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5566"/>
                </a:solidFill>
                <a:latin typeface="Calibri"/>
              </a:rPr>
              <a:t>New pipeline, new data source, new alert policy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0" y="214884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0052CC"/>
                </a:solidFill>
                <a:latin typeface="Calibri"/>
              </a:rPr>
              <a:t>~10×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035808"/>
            <a:ext cx="1143000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3035808"/>
            <a:ext cx="73152" cy="10058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127248"/>
            <a:ext cx="8686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4141E"/>
                </a:solidFill>
                <a:latin typeface="Calibri"/>
              </a:rPr>
              <a:t>Architecture / design  —  thinking-bound, not context-bound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493008"/>
            <a:ext cx="8686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5566"/>
                </a:solidFill>
                <a:latin typeface="Calibri"/>
              </a:rPr>
              <a:t>New service, schema design, cross-team dependencies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8320" y="3264408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7C3AED"/>
                </a:solidFill>
                <a:latin typeface="Calibri"/>
              </a:rPr>
              <a:t>~3×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4151376"/>
            <a:ext cx="1143000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5760" y="4151376"/>
            <a:ext cx="73152" cy="1005840"/>
          </a:xfrm>
          <a:prstGeom prst="rect">
            <a:avLst/>
          </a:prstGeom>
          <a:solidFill>
            <a:srgbClr val="555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4242816"/>
            <a:ext cx="8686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4141E"/>
                </a:solidFill>
                <a:latin typeface="Calibri"/>
              </a:rPr>
              <a:t>Prod debugging  —  your understanding is the bottleneck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608576"/>
            <a:ext cx="8686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5566"/>
                </a:solidFill>
                <a:latin typeface="Calibri"/>
              </a:rPr>
              <a:t>Novel failure mode, unfamiliar system, on-call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20" y="4379976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555566"/>
                </a:solidFill>
                <a:latin typeface="Calibri"/>
              </a:rPr>
              <a:t>~1×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5321808"/>
            <a:ext cx="11430000" cy="640080"/>
          </a:xfrm>
          <a:prstGeom prst="rect">
            <a:avLst/>
          </a:prstGeom>
          <a:solidFill>
            <a:srgbClr val="E8F8F1"/>
          </a:solidFill>
          <a:ln w="19050">
            <a:solidFill>
              <a:srgbClr val="00AC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5404104"/>
            <a:ext cx="7772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06B40"/>
                </a:solidFill>
                <a:latin typeface="Calibri"/>
              </a:rPr>
              <a:t>Sustained team average:  15–25×  over a month of real DE work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5468112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566"/>
                </a:solidFill>
                <a:latin typeface="Calibri"/>
              </a:rPr>
              <a:t>(100× aspirational — cherry-picked replay-heavy scenarios only)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" y="6455664"/>
            <a:ext cx="10881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555566"/>
                </a:solidFill>
                <a:latin typeface="Calibri"/>
              </a:rPr>
              <a:t>© 2025 New Relic, Inc. All rights reserved.  Confidential and proprietary.  For internal use only, not for external distribution.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89920" y="6409944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00AC69"/>
                </a:solidFill>
                <a:latin typeface="Calibri"/>
              </a:rPr>
              <a:t>⬢ new relic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00AC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64008"/>
            <a:ext cx="11430000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Before &amp; After — Ingestion Team Metrics (3 Repos, ~3 Months)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77240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555566"/>
                </a:solidFill>
                <a:latin typeface="Calibri"/>
              </a:rPr>
              <a:t>Metric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0" y="777240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4141E"/>
                </a:solidFill>
                <a:latin typeface="Calibri"/>
              </a:rPr>
              <a:t>Before  (manual)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52360" y="777240"/>
            <a:ext cx="4480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4141E"/>
                </a:solidFill>
                <a:latin typeface="Calibri"/>
              </a:rPr>
              <a:t>After  (AI-led)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097280"/>
            <a:ext cx="11521440" cy="14630"/>
          </a:xfrm>
          <a:prstGeom prst="rect">
            <a:avLst/>
          </a:prstGeom>
          <a:solidFill>
            <a:srgbClr val="00AC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170432"/>
            <a:ext cx="11521440" cy="4937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243584"/>
            <a:ext cx="3337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4141E"/>
                </a:solidFill>
                <a:latin typeface="Calibri"/>
              </a:rPr>
              <a:t>Engineer onboarding time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1243584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5566"/>
                </a:solidFill>
                <a:latin typeface="Calibri"/>
              </a:rPr>
              <a:t>2+ weeks (Slack + git history)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52360" y="1243584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6B40"/>
                </a:solidFill>
                <a:latin typeface="Calibri"/>
              </a:rPr>
              <a:t>Hours  — /bootstrap loads context day 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664208"/>
            <a:ext cx="11521440" cy="493776"/>
          </a:xfrm>
          <a:prstGeom prst="rect">
            <a:avLst/>
          </a:prstGeom>
          <a:solidFill>
            <a:srgbClr val="E8F8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1737360"/>
            <a:ext cx="3337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4141E"/>
                </a:solidFill>
                <a:latin typeface="Calibri"/>
              </a:rPr>
              <a:t>Incident MTTR (diagnosis)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173736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5566"/>
                </a:solidFill>
                <a:latin typeface="Calibri"/>
              </a:rPr>
              <a:t>2–3 hours (manual NR UI hunting)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52360" y="1737360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6B40"/>
                </a:solidFill>
                <a:latin typeface="Calibri"/>
              </a:rPr>
              <a:t>20–30 min  (NR MCP structured output)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157984"/>
            <a:ext cx="11521440" cy="4937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2231136"/>
            <a:ext cx="3337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4141E"/>
                </a:solidFill>
                <a:latin typeface="Calibri"/>
              </a:rPr>
              <a:t>Feature cycle time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0" y="2231136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5566"/>
                </a:solidFill>
                <a:latin typeface="Calibri"/>
              </a:rPr>
              <a:t>14–20 days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52360" y="2231136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6B40"/>
                </a:solidFill>
                <a:latin typeface="Calibri"/>
              </a:rPr>
              <a:t>3–5 days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51760"/>
            <a:ext cx="11521440" cy="493776"/>
          </a:xfrm>
          <a:prstGeom prst="rect">
            <a:avLst/>
          </a:prstGeom>
          <a:solidFill>
            <a:srgbClr val="E8F8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724912"/>
            <a:ext cx="3337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4141E"/>
                </a:solidFill>
                <a:latin typeface="Calibri"/>
              </a:rPr>
              <a:t>Blast radius visibility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0480" y="2724912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5566"/>
                </a:solidFill>
                <a:latin typeface="Calibri"/>
              </a:rPr>
              <a:t>Unknown until prod breaks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52360" y="2724912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6B40"/>
                </a:solidFill>
                <a:latin typeface="Calibri"/>
              </a:rPr>
              <a:t>Instant  —  get_impact_radius pre-commit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3145536"/>
            <a:ext cx="11521440" cy="4937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3218688"/>
            <a:ext cx="3337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4141E"/>
                </a:solidFill>
                <a:latin typeface="Calibri"/>
              </a:rPr>
              <a:t>Rework from hidden deps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40480" y="3218688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5566"/>
                </a:solidFill>
                <a:latin typeface="Calibri"/>
              </a:rPr>
              <a:t>~1 sprint/quarter absorbed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52360" y="3218688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6B40"/>
                </a:solidFill>
                <a:latin typeface="Calibri"/>
              </a:rPr>
              <a:t>&lt; 1 day  (caught pre-commit)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3639312"/>
            <a:ext cx="11521440" cy="493776"/>
          </a:xfrm>
          <a:prstGeom prst="rect">
            <a:avLst/>
          </a:prstGeom>
          <a:solidFill>
            <a:srgbClr val="E8F8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5760" y="3712464"/>
            <a:ext cx="3337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4141E"/>
                </a:solidFill>
                <a:latin typeface="Calibri"/>
              </a:rPr>
              <a:t>Context on new codebase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40480" y="3712464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5566"/>
                </a:solidFill>
                <a:latin typeface="Calibri"/>
              </a:rPr>
              <a:t>Days of grep + git archaeology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52360" y="3712464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6B40"/>
                </a:solidFill>
                <a:latin typeface="Calibri"/>
              </a:rPr>
              <a:t>Minutes  —  graph + hot.md loaded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4133088"/>
            <a:ext cx="11521440" cy="4937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5760" y="4206240"/>
            <a:ext cx="3337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4141E"/>
                </a:solidFill>
                <a:latin typeface="Calibri"/>
              </a:rPr>
              <a:t>Security bugs caught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40480" y="420624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5566"/>
                </a:solidFill>
                <a:latin typeface="Calibri"/>
              </a:rPr>
              <a:t>~40% (periodic manual review)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52360" y="4206240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6B40"/>
                </a:solidFill>
                <a:latin typeface="Calibri"/>
              </a:rPr>
              <a:t>80–100%  (natasha-reviewer every PR)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4626864"/>
            <a:ext cx="11521440" cy="493776"/>
          </a:xfrm>
          <a:prstGeom prst="rect">
            <a:avLst/>
          </a:prstGeom>
          <a:solidFill>
            <a:srgbClr val="E8F8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4700016"/>
            <a:ext cx="3337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4141E"/>
                </a:solidFill>
                <a:latin typeface="Calibri"/>
              </a:rPr>
              <a:t>Test coverage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40480" y="4700016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5566"/>
                </a:solidFill>
                <a:latin typeface="Calibri"/>
              </a:rPr>
              <a:t>60–70%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52360" y="4700016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6B40"/>
                </a:solidFill>
                <a:latin typeface="Calibri"/>
              </a:rPr>
              <a:t>90%  (hawkeye-validator gate)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5175504"/>
            <a:ext cx="1152144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40" y="5230368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55566"/>
                </a:solidFill>
                <a:latin typeface="Calibri"/>
              </a:rPr>
              <a:t>Repos: om-airflow-dags  ·  spark-kafka-apps  ·  tf-dataos-new-relic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4320" y="6455664"/>
            <a:ext cx="10881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555566"/>
                </a:solidFill>
                <a:latin typeface="Calibri"/>
              </a:rPr>
              <a:t>© 2025 New Relic, Inc. All rights reserved.  Confidential and proprietary.  For internal use only, not for external distribution.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789920" y="6409944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00AC69"/>
                </a:solidFill>
                <a:latin typeface="Calibri"/>
              </a:rPr>
              <a:t>⬢ new relic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00AC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64008"/>
            <a:ext cx="11430000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AI Does the Work.  Humans Stay in Control.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822960"/>
            <a:ext cx="1143000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DD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822960"/>
            <a:ext cx="457200" cy="859536"/>
          </a:xfrm>
          <a:prstGeom prst="rect">
            <a:avLst/>
          </a:prstGeom>
          <a:solidFill>
            <a:srgbClr val="F0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02412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0AC69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91440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4141E"/>
                </a:solidFill>
                <a:latin typeface="Calibri"/>
              </a:rPr>
              <a:t>Requirements approval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0" y="960120"/>
            <a:ext cx="6400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55566"/>
                </a:solidFill>
                <a:latin typeface="Calibri"/>
              </a:rPr>
              <a:t>Before planning begins — human writes the spec, Claude reads it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792224"/>
            <a:ext cx="1143000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DD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1792224"/>
            <a:ext cx="457200" cy="859536"/>
          </a:xfrm>
          <a:prstGeom prst="rect">
            <a:avLst/>
          </a:prstGeom>
          <a:solidFill>
            <a:srgbClr val="F0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99339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0AC69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1883664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4141E"/>
                </a:solidFill>
                <a:latin typeface="Calibri"/>
              </a:rPr>
              <a:t>Architecture plan approval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0" y="1929384"/>
            <a:ext cx="6400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55566"/>
                </a:solidFill>
                <a:latin typeface="Calibri"/>
              </a:rPr>
              <a:t>Before any code is written — /bootstrap plan mode, human approves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761488"/>
            <a:ext cx="11430000" cy="859536"/>
          </a:xfrm>
          <a:prstGeom prst="rect">
            <a:avLst/>
          </a:prstGeom>
          <a:solidFill>
            <a:srgbClr val="E8F8F1"/>
          </a:solidFill>
          <a:ln w="19050">
            <a:solidFill>
              <a:srgbClr val="00AC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2761488"/>
            <a:ext cx="457200" cy="859536"/>
          </a:xfrm>
          <a:prstGeom prst="rect">
            <a:avLst/>
          </a:prstGeom>
          <a:solidFill>
            <a:srgbClr val="00AC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2962656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2852928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4141E"/>
                </a:solidFill>
                <a:latin typeface="Calibri"/>
              </a:rPr>
              <a:t>Security review sign-off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0" y="2898648"/>
            <a:ext cx="6400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55566"/>
                </a:solidFill>
                <a:latin typeface="Calibri"/>
              </a:rPr>
              <a:t>natasha-reviewer flags OWASP findings — any critical BLOCKS pipeline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3730752"/>
            <a:ext cx="1143000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DD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5760" y="3730752"/>
            <a:ext cx="457200" cy="859536"/>
          </a:xfrm>
          <a:prstGeom prst="rect">
            <a:avLst/>
          </a:prstGeom>
          <a:solidFill>
            <a:srgbClr val="F0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39319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0AC69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3822192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4141E"/>
                </a:solidFill>
                <a:latin typeface="Calibri"/>
              </a:rPr>
              <a:t>Final PR merge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520" y="3867912"/>
            <a:ext cx="6400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55566"/>
                </a:solidFill>
                <a:latin typeface="Calibri"/>
              </a:rPr>
              <a:t>Human reviews every PR — agent PRs treated identically to human PRs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4700016"/>
            <a:ext cx="1143000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DD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65760" y="4700016"/>
            <a:ext cx="457200" cy="859536"/>
          </a:xfrm>
          <a:prstGeom prst="rect">
            <a:avLst/>
          </a:prstGeom>
          <a:solidFill>
            <a:srgbClr val="F0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4901184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0AC69"/>
                </a:solidFill>
                <a:latin typeface="Calibri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4791456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4141E"/>
                </a:solidFill>
                <a:latin typeface="Calibri"/>
              </a:rPr>
              <a:t>Production deployments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03520" y="4837176"/>
            <a:ext cx="6400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55566"/>
                </a:solidFill>
                <a:latin typeface="Calibri"/>
              </a:rPr>
              <a:t>Human initiates + monitors — agent creates release notes, human deploys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20" y="6455664"/>
            <a:ext cx="10881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555566"/>
                </a:solidFill>
                <a:latin typeface="Calibri"/>
              </a:rPr>
              <a:t>© 2025 New Relic, Inc. All rights reserved.  Confidential and proprietary.  For internal use only, not for external distribution.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89920" y="6409944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00AC69"/>
                </a:solidFill>
                <a:latin typeface="Calibri"/>
              </a:rPr>
              <a:t>⬢ new relic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00AC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64008"/>
            <a:ext cx="11430000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Getting Started — Week-by-Week Adoption Plan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777240"/>
            <a:ext cx="274320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777240"/>
            <a:ext cx="2743200" cy="402336"/>
          </a:xfrm>
          <a:prstGeom prst="rect">
            <a:avLst/>
          </a:prstGeom>
          <a:solidFill>
            <a:srgbClr val="00AC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Week 1  —  Solo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25603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4141E"/>
                </a:solidFill>
                <a:latin typeface="Calibri"/>
              </a:rPr>
              <a:t>• Install: ./install.sh + ./verify.sh  (15 min)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792224"/>
            <a:ext cx="25603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4141E"/>
                </a:solidFill>
                <a:latin typeface="Calibri"/>
              </a:rPr>
              <a:t>• /bootstrap on your most-used repo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304288"/>
            <a:ext cx="25603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4141E"/>
                </a:solidFill>
                <a:latin typeface="Calibri"/>
              </a:rPr>
              <a:t>• Work normally — skills auto-trigger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816352"/>
            <a:ext cx="25603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4141E"/>
                </a:solidFill>
                <a:latin typeface="Calibri"/>
              </a:rPr>
              <a:t>• /wrap-up at every session 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328416"/>
            <a:ext cx="25603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4141E"/>
                </a:solidFill>
                <a:latin typeface="Calibri"/>
              </a:rPr>
              <a:t>• Check /budget status daily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91840" y="777240"/>
            <a:ext cx="274320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91840" y="777240"/>
            <a:ext cx="2743200" cy="402336"/>
          </a:xfrm>
          <a:prstGeom prst="rect">
            <a:avLst/>
          </a:prstGeom>
          <a:solidFill>
            <a:srgbClr val="005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83280" y="822960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Week 2  —  Discipline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3280" y="1280160"/>
            <a:ext cx="25603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4141E"/>
                </a:solidFill>
                <a:latin typeface="Calibri"/>
              </a:rPr>
              <a:t>• All active repos bootstrapped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1792224"/>
            <a:ext cx="25603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4141E"/>
                </a:solidFill>
                <a:latin typeface="Calibri"/>
              </a:rPr>
              <a:t>• Save first golden after a prod fix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3280" y="2304288"/>
            <a:ext cx="25603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4141E"/>
                </a:solidFill>
                <a:latin typeface="Calibri"/>
              </a:rPr>
              <a:t>• Try /replay on a recurring task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83280" y="2816352"/>
            <a:ext cx="25603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4141E"/>
                </a:solidFill>
                <a:latin typeface="Calibri"/>
              </a:rPr>
              <a:t>• Review grep-telemetry-report.sh weekly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777240"/>
            <a:ext cx="274320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777240"/>
            <a:ext cx="2743200" cy="40233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60" y="822960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Week 3  —  Advanced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1280160"/>
            <a:ext cx="25603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4141E"/>
                </a:solidFill>
                <a:latin typeface="Calibri"/>
              </a:rPr>
              <a:t>• /avengers on first real multi-file task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1792224"/>
            <a:ext cx="25603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4141E"/>
                </a:solidFill>
                <a:latin typeface="Calibri"/>
              </a:rPr>
              <a:t>• Golden library: 3–5 patterns saved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2304288"/>
            <a:ext cx="25603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4141E"/>
                </a:solidFill>
                <a:latin typeface="Calibri"/>
              </a:rPr>
              <a:t>• Tune model routing (Haiku for mechanical)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2816352"/>
            <a:ext cx="25603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4141E"/>
                </a:solidFill>
                <a:latin typeface="Calibri"/>
              </a:rPr>
              <a:t>• Check: session start cost &lt; $0.05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44000" y="777240"/>
            <a:ext cx="274320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144000" y="777240"/>
            <a:ext cx="2743200" cy="402336"/>
          </a:xfrm>
          <a:prstGeom prst="rect">
            <a:avLst/>
          </a:prstGeom>
          <a:solidFill>
            <a:srgbClr val="006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35440" y="822960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Week 4+  —  Steady State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440" y="1280160"/>
            <a:ext cx="25603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4141E"/>
                </a:solidFill>
                <a:latin typeface="Calibri"/>
              </a:rPr>
              <a:t>• 2–5 new goldens/week automatically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35440" y="1792224"/>
            <a:ext cx="25603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4141E"/>
                </a:solidFill>
                <a:latin typeface="Calibri"/>
              </a:rPr>
              <a:t>• Grep fallback rate &lt; 10%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2304288"/>
            <a:ext cx="25603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4141E"/>
                </a:solidFill>
                <a:latin typeface="Calibri"/>
              </a:rPr>
              <a:t>• lessons.md promoting to CLAUDE.md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35440" y="2816352"/>
            <a:ext cx="25603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4141E"/>
                </a:solidFill>
                <a:latin typeface="Calibri"/>
              </a:rPr>
              <a:t>• Team sharing golden library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5349240"/>
            <a:ext cx="11430000" cy="713232"/>
          </a:xfrm>
          <a:prstGeom prst="rect">
            <a:avLst/>
          </a:prstGeom>
          <a:solidFill>
            <a:srgbClr val="F0F0F4"/>
          </a:solidFill>
          <a:ln w="9525">
            <a:solidFill>
              <a:srgbClr val="DDDD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5422392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4141E"/>
                </a:solidFill>
                <a:latin typeface="Calibri"/>
              </a:rPr>
              <a:t>🟢  Green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783080" y="5422392"/>
            <a:ext cx="2606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66"/>
                </a:solidFill>
                <a:latin typeface="Calibri"/>
              </a:rPr>
              <a:t>golden/*.md grows 2–5/wk · grep fallback &lt;10% · session start &lt;$0.05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89120" y="5422392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4141E"/>
                </a:solidFill>
                <a:latin typeface="Calibri"/>
              </a:rPr>
              <a:t>🟡  Yellow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23560" y="5422392"/>
            <a:ext cx="2606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66"/>
                </a:solidFill>
                <a:latin typeface="Calibri"/>
              </a:rPr>
              <a:t>overrides ≥3/wk → raise caps · grep fallback &gt;30% → tune graphignore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0" y="5422392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4141E"/>
                </a:solidFill>
                <a:latin typeface="Calibri"/>
              </a:rPr>
              <a:t>🔴  Red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64040" y="5422392"/>
            <a:ext cx="2606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66"/>
                </a:solidFill>
                <a:latin typeface="Calibri"/>
              </a:rPr>
              <a:t>engineers skip /wrap-up frequently · goldens never used → tags too narrow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74320" y="6455664"/>
            <a:ext cx="10881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555566"/>
                </a:solidFill>
                <a:latin typeface="Calibri"/>
              </a:rPr>
              <a:t>© 2025 New Relic, Inc. All rights reserved.  Confidential and proprietary.  For internal use only, not for external distribution.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789920" y="6409944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00AC69"/>
                </a:solidFill>
                <a:latin typeface="Calibri"/>
              </a:rPr>
              <a:t>⬢ new relic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AC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00AC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AC69"/>
                </a:solidFill>
                <a:latin typeface="Calibri"/>
              </a:rPr>
              <a:t>⬢ new relic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103120"/>
            <a:ext cx="944575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0" i="0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3520440"/>
            <a:ext cx="48737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1">
                <a:solidFill>
                  <a:srgbClr val="00AC69"/>
                </a:solidFill>
                <a:latin typeface="Calibri"/>
              </a:rPr>
              <a:t>Questions?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0" y="4251960"/>
            <a:ext cx="6702552" cy="14630"/>
          </a:xfrm>
          <a:prstGeom prst="rect">
            <a:avLst/>
          </a:prstGeom>
          <a:solidFill>
            <a:srgbClr val="00AC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0" y="4480560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AC69"/>
                </a:solidFill>
                <a:latin typeface="Calibri"/>
              </a:rPr>
              <a:t>Repo: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4480560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github.com/nr-mdakilahmed/claude_code_setup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4956048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AC69"/>
                </a:solidFill>
                <a:latin typeface="Calibri"/>
              </a:rPr>
              <a:t>Install: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4956048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git clone → ./install.sh → ./verify.sh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5431536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AC69"/>
                </a:solidFill>
                <a:latin typeface="Calibri"/>
              </a:rPr>
              <a:t>First visit: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5431536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/bootstrap  |  Every session end: /wrap-up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