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2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0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6949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Ingestion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AC69"/>
                </a:solidFill>
                <a:latin typeface="Calibri"/>
              </a:rPr>
              <a:t>AI-Led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6949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Environment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01568"/>
            <a:ext cx="6217920" cy="16459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6949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Claude Code  +  GitHub Copilot  +  New Relic MCP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3657600" cy="749808"/>
          </a:xfrm>
          <a:prstGeom prst="rect">
            <a:avLst/>
          </a:prstGeom>
          <a:solidFill>
            <a:srgbClr val="1A1A3A"/>
          </a:solidFill>
          <a:ln w="9525">
            <a:solidFill>
              <a:srgbClr val="2A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54864" cy="7498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016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41E"/>
                </a:solidFill>
                <a:latin typeface="Calibri"/>
              </a:rPr>
              <a:t>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1280160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10×  faster feature delivery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057400"/>
            <a:ext cx="3657600" cy="749808"/>
          </a:xfrm>
          <a:prstGeom prst="rect">
            <a:avLst/>
          </a:prstGeom>
          <a:solidFill>
            <a:srgbClr val="1A1A3A"/>
          </a:solidFill>
          <a:ln w="9525">
            <a:solidFill>
              <a:srgbClr val="2A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057400"/>
            <a:ext cx="54864" cy="7498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24028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41E"/>
                </a:solidFill>
                <a:latin typeface="Calibri"/>
              </a:rPr>
              <a:t>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2240280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Onboard in hours, not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3017520"/>
            <a:ext cx="3657600" cy="749808"/>
          </a:xfrm>
          <a:prstGeom prst="rect">
            <a:avLst/>
          </a:prstGeom>
          <a:solidFill>
            <a:srgbClr val="1A1A3A"/>
          </a:solidFill>
          <a:ln w="9525">
            <a:solidFill>
              <a:srgbClr val="2A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3017520"/>
            <a:ext cx="54864" cy="7498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32004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41E"/>
                </a:solidFill>
                <a:latin typeface="Calibr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3200400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30-min incident diagnosis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977640"/>
            <a:ext cx="3657600" cy="749808"/>
          </a:xfrm>
          <a:prstGeom prst="rect">
            <a:avLst/>
          </a:prstGeom>
          <a:solidFill>
            <a:srgbClr val="1A1A3A"/>
          </a:solidFill>
          <a:ln w="9525">
            <a:solidFill>
              <a:srgbClr val="2A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977640"/>
            <a:ext cx="54864" cy="7498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416052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41E"/>
                </a:solidFill>
                <a:latin typeface="Calibri"/>
              </a:rPr>
              <a:t>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5088" y="4160520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agents working in parallel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4937760"/>
            <a:ext cx="3657600" cy="749808"/>
          </a:xfrm>
          <a:prstGeom prst="rect">
            <a:avLst/>
          </a:prstGeom>
          <a:solidFill>
            <a:srgbClr val="1A1A3A"/>
          </a:solidFill>
          <a:ln w="9525">
            <a:solidFill>
              <a:srgbClr val="2A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4937760"/>
            <a:ext cx="54864" cy="74980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41E"/>
                </a:solidFill>
                <a:latin typeface="Calibri"/>
              </a:rPr>
              <a:t>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5120640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Knowledge that compounds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The Challenge — Four Pains That Slow Every Team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5532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53212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🕐 New Engineer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35608"/>
            <a:ext cx="5074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53E3E"/>
                </a:solidFill>
                <a:latin typeface="Calibri"/>
              </a:rPr>
              <a:t>2+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22576"/>
            <a:ext cx="507492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3230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to reach full productivity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749808"/>
            <a:ext cx="5532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749808"/>
            <a:ext cx="553212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932688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🔍 Incident 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35608"/>
            <a:ext cx="5074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C107"/>
                </a:solidFill>
                <a:latin typeface="Calibri"/>
              </a:rPr>
              <a:t>2–3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322576"/>
            <a:ext cx="507492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43230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hunting logs manually at 2am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5532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5532120" cy="54864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💥 Blast Radius Unknown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97680"/>
            <a:ext cx="5074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F2937"/>
                </a:solidFill>
                <a:latin typeface="Calibri"/>
              </a:rPr>
              <a:t>5-DAY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184648"/>
            <a:ext cx="507492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29437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incident from a '1-day fix'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611880"/>
            <a:ext cx="5532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611880"/>
            <a:ext cx="5532120" cy="54864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🗂 Architecture in Heads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97680"/>
            <a:ext cx="5074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F2937"/>
                </a:solidFill>
                <a:latin typeface="Calibri"/>
              </a:rPr>
              <a:t>KNOWLEDGE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5184648"/>
            <a:ext cx="507492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29437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lost every time someone leaves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Two AI tools.  One team environment.  Knowledge that compounds every session.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72768"/>
            <a:ext cx="5257800" cy="4434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572768"/>
            <a:ext cx="5257800" cy="47548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GitHub Copilot — Line-level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Autocomplete lines &amp; functions in 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Inline chat: explain / refactor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90672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Generate tests &amp; boilerplate 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2958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Works where engineers already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68496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❌ No memory across 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0740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❌ Can't query NR, Jira, Confluence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84632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❌ No blast-radius or impact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1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❌ No multi-agent parallel execution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2" y="333756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00AC69"/>
                </a:solidFill>
                <a:latin typeface="Calibri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40690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1572768"/>
            <a:ext cx="5257800" cy="4434840"/>
          </a:xfrm>
          <a:prstGeom prst="rect">
            <a:avLst/>
          </a:prstGeom>
          <a:solidFill>
            <a:srgbClr val="F0FBF5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7960" y="1572768"/>
            <a:ext cx="5257800" cy="47548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1645920"/>
            <a:ext cx="4892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Claude Code — Team environment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1284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Memory: full context loads at session start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65176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NR MCP: queries logs, metrics, alerts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090672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Blast radius: impact analysis before 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52958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/avengers: 5 parallel AI agents on one task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968496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/golden + /replay: patterns that compound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407408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20 skills auto-trigger on file type / topic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84632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Jira + Confluence: auto-updated every session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5285231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✅  Budget dial: daily spend awareness built-in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The Full AI-Led Development Lifecycle  —  From Idea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58902" y="749808"/>
            <a:ext cx="1143000" cy="13258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342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910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910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Product /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0462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6474" y="749808"/>
            <a:ext cx="1143000" cy="13258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7914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0482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Spec &amp;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0482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 + Human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8034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4046" y="749808"/>
            <a:ext cx="1143000" cy="132588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5486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8054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Architect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8054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 (/avengers)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5606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01618" y="749808"/>
            <a:ext cx="1143000" cy="13258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3058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5626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5626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 + parallel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3178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49190" y="749808"/>
            <a:ext cx="1143000" cy="132588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0630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13198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3198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 + Human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0750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762" y="749808"/>
            <a:ext cx="1143000" cy="13258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8202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60770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 &amp;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0770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AI-automated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8322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4334" y="749808"/>
            <a:ext cx="1143000" cy="13258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5774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8342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8342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Human initiates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5894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91906" y="749808"/>
            <a:ext cx="1143000" cy="132588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3346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5914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5914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NR MCP (AI)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3466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39478" y="749808"/>
            <a:ext cx="1143000" cy="1325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30918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3486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3486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AI auto-update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91038" y="118872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E7EB"/>
                </a:solidFill>
                <a:latin typeface="Calibri"/>
              </a:rPr>
              <a:t>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87050" y="749808"/>
            <a:ext cx="1143000" cy="13258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78490" y="813816"/>
            <a:ext cx="960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1058" y="1051560"/>
            <a:ext cx="10149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Learn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51058" y="1618488"/>
            <a:ext cx="1014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CFFCC"/>
                </a:solidFill>
                <a:latin typeface="Calibri"/>
              </a:rPr>
              <a:t>Golden patterns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8902" y="2212848"/>
            <a:ext cx="11471148" cy="36576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8902" y="2286000"/>
            <a:ext cx="114711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↺  repeats every sprint — knowledge compounds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27889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What AI handles vs. human: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136392"/>
            <a:ext cx="256032" cy="25603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13639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Human-led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0" y="3136392"/>
            <a:ext cx="256032" cy="25603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21024" y="313639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AI-led (Claude Code)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3136392"/>
            <a:ext cx="256032" cy="256032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47104" y="313639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NR MCP observability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0" y="3136392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73184" y="313639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Auto-documentation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11880"/>
            <a:ext cx="37033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3611880"/>
            <a:ext cx="54864" cy="246888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38862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AI writes code, runs tests, reviews security,
updates Jira — autonomously, in parallel.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7680" y="3611880"/>
            <a:ext cx="37033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97680" y="3611880"/>
            <a:ext cx="54864" cy="24688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98848" y="38862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Humans approve at 5 gates:
Requirements · Architecture · Security · PR · Deploy.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0" y="3611880"/>
            <a:ext cx="37033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29600" y="3611880"/>
            <a:ext cx="54864" cy="24688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30768" y="38862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Each session makes the next one smarter.
Knowledge never leaves the team.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Onboard in Hours, Not Weeks  —  Full Context on Day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5303520" cy="3291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530352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E53E3E"/>
                </a:solidFill>
                <a:latin typeface="Calibri"/>
              </a:rPr>
              <a:t>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Slack DMs · git archaeology · tribal knowledge
→ still not fully productive by end of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2880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777240"/>
            <a:ext cx="5303520" cy="3291840"/>
          </a:xfrm>
          <a:prstGeom prst="rect">
            <a:avLst/>
          </a:prstGeom>
          <a:solidFill>
            <a:srgbClr val="F0FBF5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777240"/>
            <a:ext cx="5303520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91440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B40"/>
                </a:solidFill>
                <a:latin typeface="Calibri"/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2801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00AC69"/>
                </a:solidFill>
                <a:latin typeface="Calibri"/>
              </a:rPr>
              <a:t>2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31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6B40"/>
                </a:solidFill>
                <a:latin typeface="Calibri"/>
              </a:rPr>
              <a:t>/bootstrap: detects stack, seeds memory,
builds code graph, wires MCPs — in 15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79392"/>
            <a:ext cx="3703320" cy="17556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279392"/>
            <a:ext cx="54864" cy="175564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41E"/>
                </a:solidFill>
                <a:latin typeface="Calibri"/>
              </a:rPr>
              <a:t>Full codebase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2803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Auto-loaded at session start.
No manual exploration needed.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279392"/>
            <a:ext cx="3703320" cy="17556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4279392"/>
            <a:ext cx="54864" cy="175564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41E"/>
                </a:solidFill>
                <a:latin typeface="Calibri"/>
              </a:rPr>
              <a:t>Architecture diagram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82803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Built from code graph.
Updates automatically.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4279392"/>
            <a:ext cx="3703320" cy="17556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4279392"/>
            <a:ext cx="54864" cy="175564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41E"/>
                </a:solidFill>
                <a:latin typeface="Calibri"/>
              </a:rPr>
              <a:t>Team's lessons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8032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patterns + anti-patterns +
wins — from day 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/avengers — Multi-Agent Orchestration  ·  5 Engineers in One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Complex tasks that used to take one engineer one full day: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61872"/>
            <a:ext cx="7315200" cy="65836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Nick Fury  (Opus — Orchestrator)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389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AC69"/>
                </a:solidFill>
                <a:latin typeface="Calibri"/>
              </a:rPr>
              <a:t>routes work · validates gates · blocks bad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84831"/>
            <a:ext cx="1691640" cy="150876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7627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5087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  <a:latin typeface="Calibri"/>
              </a:rPr>
              <a:t>codebase research
→ implementation plan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2084831"/>
            <a:ext cx="1691640" cy="150876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17627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Coder ×N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60320"/>
            <a:ext cx="15087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  <a:latin typeface="Calibri"/>
              </a:rPr>
              <a:t>parallel code writing
verifies build passes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084831"/>
            <a:ext cx="1691640" cy="150876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17627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560320"/>
            <a:ext cx="15087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  <a:latin typeface="Calibri"/>
              </a:rPr>
              <a:t>code standards +
OWASP 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2084831"/>
            <a:ext cx="1691640" cy="1508760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17627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Validator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560320"/>
            <a:ext cx="15087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FFCC"/>
                </a:solidFill>
                <a:latin typeface="Calibri"/>
              </a:rPr>
              <a:t>tests + blast radius
before any merge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005840"/>
            <a:ext cx="3886200" cy="50292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1417320"/>
            <a:ext cx="3886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53E3E"/>
                </a:solidFill>
                <a:latin typeface="Calibri"/>
              </a:rPr>
              <a:t>1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331720"/>
            <a:ext cx="3886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880360"/>
            <a:ext cx="3886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AC69"/>
                </a:solidFill>
                <a:latin typeface="Calibri"/>
              </a:rPr>
              <a:t>2 HOURS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767328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Multi-file Airflow DAG +
dbt model + NR alert
working in parallel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7315200" cy="420624"/>
          </a:xfrm>
          <a:prstGeom prst="rect">
            <a:avLst/>
          </a:prstGeom>
          <a:solidFill>
            <a:srgbClr val="F0FBF5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22191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22191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Fury reads spec → spawns Planner + Coders simultaneously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42816"/>
            <a:ext cx="7315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297679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2.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97679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Each coder works on an independent file — zero waiting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718304"/>
            <a:ext cx="7315200" cy="420624"/>
          </a:xfrm>
          <a:prstGeom prst="rect">
            <a:avLst/>
          </a:prstGeom>
          <a:solidFill>
            <a:srgbClr val="F0FBF5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73168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3.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773168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Reviewer checks all output → Validator runs tests + blast radius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193792"/>
            <a:ext cx="7315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248656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C69"/>
                </a:solidFill>
                <a:latin typeface="Calibri"/>
              </a:rPr>
              <a:t>4.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248656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Engineer reviews 1 PR instead of writing 5 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Incident Investigation  —  AI Queries New Relic Directly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5303520" cy="50292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5303520" cy="457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4937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E53E3E"/>
                </a:solidFill>
                <a:latin typeface="Calibri"/>
              </a:rPr>
              <a:t>2–3
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Log in to NR UI  ·  navigate entity  ·  grep logs
switch tabs  ·  compare time ranges  ·  Slack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493776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Form hypothesis → test → repeat → still not 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53E3E"/>
                </a:solidFill>
                <a:latin typeface="Calibri"/>
              </a:rPr>
              <a:t>Meanwhile: customer impact growing every minute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560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804672"/>
            <a:ext cx="5303520" cy="5029200"/>
          </a:xfrm>
          <a:prstGeom prst="rect">
            <a:avLst/>
          </a:prstGeom>
          <a:solidFill>
            <a:srgbClr val="F0FBF5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804672"/>
            <a:ext cx="5303520" cy="4572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914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NR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234440"/>
            <a:ext cx="4937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00AC69"/>
                </a:solidFill>
                <a:latin typeface="Calibri"/>
              </a:rPr>
              <a:t>30
MINS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4871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6B40"/>
                </a:solidFill>
                <a:latin typeface="Calibri"/>
              </a:rPr>
              <a:t>Claude queries NR via MCP  ·  structured analysis
consumer lag, throughput, traces — all in one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3246120"/>
            <a:ext cx="4937760" cy="16459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B40"/>
                </a:solidFill>
                <a:latin typeface="Calibri"/>
              </a:rPr>
              <a:t>"analyze kafka consumer lag last 4h"  →  root cause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840480"/>
            <a:ext cx="1143000" cy="29260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13043120" y="38587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urier New"/>
              </a:rPr>
              <a:t>analyze_kafka_metrics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840480"/>
            <a:ext cx="1143000" cy="29260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14277560" y="38587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urier New"/>
              </a:rPr>
              <a:t>analyze_entity_logs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3840480"/>
            <a:ext cx="1143000" cy="29260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15512000" y="38587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urier New"/>
              </a:rPr>
              <a:t>list_recent_issues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840480"/>
            <a:ext cx="1143000" cy="29260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16746440" y="38587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urier New"/>
              </a:rPr>
              <a:t>get_distributed_trace_details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31596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6B40"/>
                </a:solidFill>
                <a:latin typeface="Calibri"/>
              </a:rPr>
              <a:t>12 NR MCP tools available. AI knows what to call and when.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Ship Without Surprises  —  Impact Analysis Before You Write a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80467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We know what breaks BEFORE touching it.  Not after deploying.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73936"/>
            <a:ext cx="5394960" cy="219456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3E3E"/>
                </a:solidFill>
                <a:latin typeface="Calibri"/>
              </a:rPr>
              <a:t>⚠  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Engineer changes spark_ingest.py.
Deploys to staging.
Downstream Kafka consumer breaks silently.
5-day incident to trace back the cause.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73936"/>
            <a:ext cx="5394960" cy="2194560"/>
          </a:xfrm>
          <a:prstGeom prst="rect">
            <a:avLst/>
          </a:prstGeom>
          <a:solidFill>
            <a:srgbClr val="F0FBF5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47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40"/>
                </a:solidFill>
                <a:latin typeface="Calibri"/>
              </a:rPr>
              <a:t>✅ 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9424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141E"/>
                </a:solidFill>
                <a:latin typeface="Calibri"/>
              </a:rPr>
              <a:t>Before writing code: get_impact_radius().
Sees 3 callers, 1 downstream Kafka consumer.
Fixes scope — ships confidently.
Zero prod incident.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2432" y="26060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33087"/>
            <a:ext cx="27797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133087"/>
            <a:ext cx="54864" cy="157276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26110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53E3E"/>
                </a:solidFill>
                <a:latin typeface="Calibri"/>
              </a:rPr>
              <a:t>~1 sprint/qtr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64608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absorbed in unexpected rework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4133087"/>
            <a:ext cx="27797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0128" y="4133087"/>
            <a:ext cx="54864" cy="157276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426110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C69"/>
                </a:solidFill>
                <a:latin typeface="Calibri"/>
              </a:rPr>
              <a:t>&lt; 1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4864608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rework after impact-aware 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133087"/>
            <a:ext cx="27797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4133087"/>
            <a:ext cx="54864" cy="157276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26110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C69"/>
                </a:solidFill>
                <a:latin typeface="Calibri"/>
              </a:rPr>
              <a:t>28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4864608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 code-review-graph MCP — all graph-aware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98864" y="4133087"/>
            <a:ext cx="27797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98864" y="4133087"/>
            <a:ext cx="54864" cy="1572768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024" y="426110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C69"/>
                </a:solidFill>
                <a:latin typeface="Calibri"/>
              </a:rPr>
              <a:t>Auto-updates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4864608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graph rebuilds on every file save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Documentation That Writes Itself  —  Jira &amp; Confluence Auto-Updated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21488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78408"/>
            <a:ext cx="1965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4141E"/>
                </a:solidFill>
                <a:latin typeface="Calibri"/>
              </a:rPr>
              <a:t>Work session
completes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2032" y="1161288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24912" y="804672"/>
            <a:ext cx="2148840" cy="1097280"/>
          </a:xfrm>
          <a:prstGeom prst="rect">
            <a:avLst/>
          </a:prstGeom>
          <a:solidFill>
            <a:srgbClr val="00AC69"/>
          </a:solidFill>
          <a:ln w="1270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16352" y="978408"/>
            <a:ext cx="1965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/wrap-up
fires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1183" y="1161288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804672"/>
            <a:ext cx="2148840" cy="1097280"/>
          </a:xfrm>
          <a:prstGeom prst="rect">
            <a:avLst/>
          </a:prstGeom>
          <a:solidFill>
            <a:srgbClr val="00AC69"/>
          </a:solidFill>
          <a:ln w="1270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75504" y="978408"/>
            <a:ext cx="1965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Claude drafts
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0336" y="1161288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804672"/>
            <a:ext cx="2148840" cy="109728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6" y="978408"/>
            <a:ext cx="1965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Jira ticket
updated via 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1161288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C69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02368" y="804672"/>
            <a:ext cx="2148840" cy="109728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93808" y="978408"/>
            <a:ext cx="1965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Confluence page
published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103120"/>
            <a:ext cx="5486400" cy="40233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17627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Jira — What gets auto-updated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51760"/>
            <a:ext cx="52120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6148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76148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In Review → Done —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52120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36499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Comment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36499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What was done, decisions made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58768"/>
            <a:ext cx="52120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Worklog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96849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Time logged from session duration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462272"/>
            <a:ext cx="52120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572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5720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Commits linked via branch name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10312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103120"/>
            <a:ext cx="5486400" cy="402336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17627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Confluence — What gets published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651760"/>
            <a:ext cx="52120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276148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Architecture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76148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Decisions logged after every session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255264"/>
            <a:ext cx="52120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9672" y="336499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Postmortems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36499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Incident page auto-created from wrap-up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858768"/>
            <a:ext cx="5212080" cy="5486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Release Notes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396849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From git history — v2.2 → v2.3 auto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462272"/>
            <a:ext cx="52120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9672" y="4572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CC"/>
                </a:solidFill>
                <a:latin typeface="Calibri"/>
              </a:rPr>
              <a:t>Runbooks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5720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Updated as team learns new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806440"/>
            <a:ext cx="1143000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41E"/>
                </a:solidFill>
                <a:latin typeface="Calibri"/>
              </a:rPr>
              <a:t>Zero manual effort.  Every session documented.  Every time.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Knowledge That Compounds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AC69"/>
                </a:solidFill>
                <a:latin typeface="Calibri"/>
              </a:rPr>
              <a:t>Every session makes every future session smarter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74519"/>
            <a:ext cx="11430000" cy="1261872"/>
          </a:xfrm>
          <a:prstGeom prst="rect">
            <a:avLst/>
          </a:prstGeom>
          <a:solidFill>
            <a:srgbClr val="141430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54864" cy="126187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47671"/>
            <a:ext cx="1463040" cy="25603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947671"/>
            <a:ext cx="1426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ALWAYS LOADED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47671"/>
            <a:ext cx="9464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hot.md  (~2k tokens at session start)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77439"/>
            <a:ext cx="9464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Active priorities + recent lessons + architecture summary.
/wrap-up regenerates after every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27832"/>
            <a:ext cx="11430000" cy="1261872"/>
          </a:xfrm>
          <a:prstGeom prst="rect">
            <a:avLst/>
          </a:prstGeom>
          <a:solidFill>
            <a:srgbClr val="141430"/>
          </a:solidFill>
          <a:ln w="19050">
            <a:solidFill>
              <a:srgbClr val="006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227832"/>
            <a:ext cx="54864" cy="1261872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00984"/>
            <a:ext cx="1463040" cy="256032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300984"/>
            <a:ext cx="1426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PULL ON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300984"/>
            <a:ext cx="9464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lessons.md  ·  architecture.md  ·  history.md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730752"/>
            <a:ext cx="9464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Team knowledge retrieved only when relevant — not loaded upfront.
get_memory() · search_memory() · list_lessons()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81144"/>
            <a:ext cx="11430000" cy="1261872"/>
          </a:xfrm>
          <a:prstGeom prst="rect">
            <a:avLst/>
          </a:prstGeom>
          <a:solidFill>
            <a:srgbClr val="14143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581144"/>
            <a:ext cx="54864" cy="12618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463040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654296"/>
            <a:ext cx="1426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REPLAYABLE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654296"/>
            <a:ext cx="9464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/golden save  →  /replay  →  50× on repeat problems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084064"/>
            <a:ext cx="9464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Validated fixes distilled into reusable templates.
/replay loads proven steps — team stops re-deriving the same root cause.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961888"/>
            <a:ext cx="11430000" cy="457200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035040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C69"/>
                </a:solidFill>
                <a:latin typeface="Calibri"/>
              </a:rPr>
              <a:t>Month 1: 8 issues/task  →  Month 3: 1–2 issues/task  ·  The system gets sharper, not staler.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The Results  —  Numbers the Team Has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2788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2788920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0" b="1" i="0">
                <a:solidFill>
                  <a:srgbClr val="00AC69"/>
                </a:solidFill>
                <a:latin typeface="Calibri"/>
              </a:rPr>
              <a:t>10×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957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faster on novel feature work
with graph + memory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804672"/>
            <a:ext cx="2788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0128" y="804672"/>
            <a:ext cx="278892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100584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0" b="1" i="0">
                <a:solidFill>
                  <a:srgbClr val="00D084"/>
                </a:solidFill>
                <a:latin typeface="Calibri"/>
              </a:rPr>
              <a:t>50×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23957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faster on repeat problems
using /golden + /replay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804672"/>
            <a:ext cx="2788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4496" y="804672"/>
            <a:ext cx="2788920" cy="54864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00584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0" b="1" i="0">
                <a:solidFill>
                  <a:srgbClr val="0052CC"/>
                </a:solidFill>
                <a:latin typeface="Calibri"/>
              </a:rPr>
              <a:t>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3957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reduction in MTTR
3 hours → 30 minutes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98864" y="804672"/>
            <a:ext cx="2788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8864" y="804672"/>
            <a:ext cx="2788920" cy="54864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05840"/>
            <a:ext cx="2788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0" b="1" i="0">
                <a:solidFill>
                  <a:srgbClr val="006B40"/>
                </a:solidFill>
                <a:latin typeface="Calibri"/>
              </a:rPr>
              <a:t>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3957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test coverage achieved
vs 60–70% before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79392"/>
            <a:ext cx="11430000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7083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Additional measurements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7365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C69"/>
                </a:solidFill>
                <a:latin typeface="Calibri"/>
              </a:rPr>
              <a:t>2 weeks  →  2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engineer 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7365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C69"/>
                </a:solidFill>
                <a:latin typeface="Calibri"/>
              </a:rPr>
              <a:t>14–20 days  →  3–5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feature cycle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47365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C69"/>
                </a:solidFill>
                <a:latin typeface="Calibri"/>
              </a:rPr>
              <a:t>&lt;1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rework from hidden deps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47365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C69"/>
                </a:solidFill>
                <a:latin typeface="Calibri"/>
              </a:rPr>
              <a:t>0 manual updates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Jira + Confluence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596128"/>
            <a:ext cx="11430000" cy="53035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68756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Sustained team average:  15–25×  productivity improvement  ·  over one month of real data engineering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Before &amp; After — Ingestion Team  ·  3 Repos  ·  ~3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49808"/>
            <a:ext cx="3337560" cy="3657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804672"/>
            <a:ext cx="3118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What We Measured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749808"/>
            <a:ext cx="338328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50208" y="804672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749808"/>
            <a:ext cx="4480560" cy="365760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804672"/>
            <a:ext cx="4261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After (AI-Led)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337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261872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Engineer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188720"/>
            <a:ext cx="338328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0208" y="1261872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2+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1188720"/>
            <a:ext cx="4480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088" y="1261872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2 hours — context loads on day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64208"/>
            <a:ext cx="3337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37360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Incident MTTR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1664208"/>
            <a:ext cx="3383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0208" y="1737360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2–3 hours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1664208"/>
            <a:ext cx="4480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1737360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20–30 minutes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39696"/>
            <a:ext cx="3337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12848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Feature cycle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139696"/>
            <a:ext cx="338328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2212848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14–20 days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2139696"/>
            <a:ext cx="4480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2212848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3–5 days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615184"/>
            <a:ext cx="3337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688336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Blast radius visibility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0" y="2615184"/>
            <a:ext cx="3383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50208" y="2688336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Unknown until prod breaks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2615184"/>
            <a:ext cx="4480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088" y="2688336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Instant — before coding starts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090672"/>
            <a:ext cx="3337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163824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Rework from hidden deps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090672"/>
            <a:ext cx="338328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50208" y="3163824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~1 sprint / quarter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090672"/>
            <a:ext cx="4480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088" y="3163824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&lt; 1 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566160"/>
            <a:ext cx="3337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639312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Security bugs caught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0" y="3566160"/>
            <a:ext cx="3383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0208" y="3639312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~40%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52360" y="3566160"/>
            <a:ext cx="4480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62088" y="3639312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80–100%  (every PR automated)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041648"/>
            <a:ext cx="3337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114800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Test coverage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4041648"/>
            <a:ext cx="338328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50208" y="4114800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60–70%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52360" y="4041648"/>
            <a:ext cx="4480560" cy="4754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62088" y="4114800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90%  (gate enforced)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517136"/>
            <a:ext cx="3337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4590288"/>
            <a:ext cx="3118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141E"/>
                </a:solidFill>
                <a:latin typeface="Calibri"/>
              </a:rPr>
              <a:t>Jira / Docs update time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0" y="4517136"/>
            <a:ext cx="33832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50208" y="4590288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Manual, often skipped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52360" y="4517136"/>
            <a:ext cx="4480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62088" y="4590288"/>
            <a:ext cx="4261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B40"/>
                </a:solidFill>
                <a:latin typeface="Calibri"/>
              </a:rPr>
              <a:t>Zero  — auto-updated on /wrap-up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047488"/>
            <a:ext cx="115214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0235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Repos:  om-airflow-dags  ·  spark-kafka-apps  ·  tf-dataos-new-relic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AI Does the Work.  Humans Stay in Control.  Always.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475488" cy="89611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4241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914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96926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Human writes the spec. AI reads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10512"/>
            <a:ext cx="114300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10512"/>
            <a:ext cx="475488" cy="89611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4825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920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7510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Human approves the plan before any code is written.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16352"/>
            <a:ext cx="11430000" cy="896112"/>
          </a:xfrm>
          <a:prstGeom prst="rect">
            <a:avLst/>
          </a:prstGeom>
          <a:solidFill>
            <a:srgbClr val="F0FBF5"/>
          </a:solidFill>
          <a:ln w="19050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816352"/>
            <a:ext cx="475488" cy="89611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05409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Security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8094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AI flags every OWASP issue. Any critical finding blocks.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22192"/>
            <a:ext cx="114300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22192"/>
            <a:ext cx="475488" cy="89611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05993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931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PR Merge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9867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Human reviews every PR — agent output treated like human code.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828032"/>
            <a:ext cx="114300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828032"/>
            <a:ext cx="475488" cy="89611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06577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37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E"/>
                </a:solidFill>
                <a:latin typeface="Calibri"/>
              </a:rPr>
              <a:t>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99262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Human initiates. Human monitors. AI writes release notes.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888736"/>
            <a:ext cx="1143000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Agent PRs are treated identically to human PRs — same review process, same standards, same gates.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Getting Started — From Zero to Productive in 4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2798064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2798064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2798064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2615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55448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C69"/>
                </a:solidFill>
                <a:latin typeface="Calibri"/>
              </a:rPr>
              <a:t>Step 1: 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201168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./install.sh  +  ./verify.sh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2423160"/>
            <a:ext cx="25420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One-time setup per engineer. Prereqs auto-checked.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804672"/>
            <a:ext cx="2798064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804672"/>
            <a:ext cx="2798064" cy="54864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0128" y="804672"/>
            <a:ext cx="2798064" cy="621792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568" y="877824"/>
            <a:ext cx="2615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 SEC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144" y="155448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40"/>
                </a:solidFill>
                <a:latin typeface="Calibri"/>
              </a:rPr>
              <a:t>Step 2:  /bootstrap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01168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First visit to any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423160"/>
            <a:ext cx="25420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Detects stack, seeds memory, builds code graph, wires MCPs.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804672"/>
            <a:ext cx="2798064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804672"/>
            <a:ext cx="2798064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804672"/>
            <a:ext cx="2798064" cy="621792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877824"/>
            <a:ext cx="2615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55448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C69"/>
                </a:solidFill>
                <a:latin typeface="Calibri"/>
              </a:rPr>
              <a:t>Step 3: 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01168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Skills auto-trigger as you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423160"/>
            <a:ext cx="25420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20 skills activate on file type or topic. No manual setup.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98864" y="804672"/>
            <a:ext cx="2798064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98864" y="804672"/>
            <a:ext cx="2798064" cy="54864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98864" y="804672"/>
            <a:ext cx="2798064" cy="621792"/>
          </a:xfrm>
          <a:prstGeom prst="rect">
            <a:avLst/>
          </a:prstGeom>
          <a:solidFill>
            <a:srgbClr val="006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877824"/>
            <a:ext cx="26151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30 SEC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155448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40"/>
                </a:solidFill>
                <a:latin typeface="Calibri"/>
              </a:rPr>
              <a:t>Step 4:  /wrap-up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01168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Every session 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423160"/>
            <a:ext cx="25420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141E"/>
                </a:solidFill>
                <a:latin typeface="Calibri"/>
              </a:rPr>
              <a:t>Persists history, refreshes graph, updates Jira, rebuilds hot.md.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166360"/>
            <a:ext cx="11430000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alibri"/>
              </a:rPr>
              <a:t>Week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Install + bootstrap 1 repo + /wrap-up every session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alibri"/>
              </a:rPr>
              <a:t>Week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0128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All active repos. First /golden save after a win.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96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alibri"/>
              </a:rPr>
              <a:t>Week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4496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/avengers on a real multi-file task. Golden library: 3–5 patterns.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98864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C69"/>
                </a:solidFill>
                <a:latin typeface="Calibri"/>
              </a:rPr>
              <a:t>Week 4+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Team shares goldens. Lessons compound. 15–25× productivity.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55664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Calibri"/>
              </a:rPr>
              <a:t>© 2025 New Relic, Inc.  All rights reserved.  Confidential and proprietary.  For internal use only.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AC69"/>
                </a:solidFill>
                <a:latin typeface="Calibri"/>
              </a:rPr>
              <a:t>⬢ new relic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6012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What We're Asking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7315200" cy="16459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10515600" cy="932688"/>
          </a:xfrm>
          <a:prstGeom prst="rect">
            <a:avLst/>
          </a:prstGeom>
          <a:solidFill>
            <a:srgbClr val="141438"/>
          </a:solidFill>
          <a:ln w="9525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" cy="93268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C69"/>
                </a:solidFill>
                <a:latin typeface="Calibri"/>
              </a:rPr>
              <a:t>Support adoption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984247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Drive AI-led workflows across all Data Engineering in DTM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53511"/>
            <a:ext cx="10515600" cy="932688"/>
          </a:xfrm>
          <a:prstGeom prst="rect">
            <a:avLst/>
          </a:prstGeom>
          <a:solidFill>
            <a:srgbClr val="141438"/>
          </a:solidFill>
          <a:ln w="9525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53511"/>
            <a:ext cx="54864" cy="93268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2666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C69"/>
                </a:solidFill>
                <a:latin typeface="Calibri"/>
              </a:rPr>
              <a:t>Allocate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63239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Engineers need 30 min/day: /wrap-up + goldens. It compounds.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515600" cy="932688"/>
          </a:xfrm>
          <a:prstGeom prst="rect">
            <a:avLst/>
          </a:prstGeom>
          <a:solidFill>
            <a:srgbClr val="141438"/>
          </a:solidFill>
          <a:ln w="9525">
            <a:solidFill>
              <a:srgbClr val="00A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32504"/>
            <a:ext cx="54864" cy="932688"/>
          </a:xfrm>
          <a:prstGeom prst="rect">
            <a:avLst/>
          </a:prstGeom>
          <a:solidFill>
            <a:srgbClr val="00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0565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C69"/>
                </a:solidFill>
                <a:latin typeface="Calibri"/>
              </a:rPr>
              <a:t>Endorse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14223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Establish this as the template for all DE teams to adopt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005840"/>
            <a:ext cx="2423160" cy="5029200"/>
          </a:xfrm>
          <a:prstGeom prst="rect">
            <a:avLst/>
          </a:prstGeom>
          <a:solidFill>
            <a:srgbClr val="12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2801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15–25×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1901952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sustained avg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46888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10×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090672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novel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65760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50×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279392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repeat tasks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484632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C69"/>
                </a:solidFill>
                <a:latin typeface="Calibri"/>
              </a:rPr>
              <a:t>30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5468112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to root 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035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6B7280"/>
                </a:solidFill>
                <a:latin typeface="Calibri"/>
              </a:rPr>
              <a:t>Thank You  ·  Questions?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6188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66"/>
                </a:solidFill>
                <a:latin typeface="Calibri"/>
              </a:rPr>
              <a:t>Repo:  github.com/nr-mdakilahmed/claude_code_setup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